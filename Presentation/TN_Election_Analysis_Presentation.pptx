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61" r:id="rId3"/>
    <p:sldId id="262" r:id="rId4"/>
    <p:sldId id="263" r:id="rId5"/>
    <p:sldId id="265" r:id="rId6"/>
    <p:sldId id="266" r:id="rId7"/>
    <p:sldId id="269" r:id="rId8"/>
    <p:sldId id="271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99A8"/>
    <a:srgbClr val="EF8A72"/>
    <a:srgbClr val="E76F51"/>
    <a:srgbClr val="D6DAE1"/>
    <a:srgbClr val="5B6CFF"/>
    <a:srgbClr val="B7794B"/>
    <a:srgbClr val="4E8D7C"/>
    <a:srgbClr val="559E37"/>
    <a:srgbClr val="2D6CDF"/>
    <a:srgbClr val="A7B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54CAD-BF41-461F-A12B-847FEC69924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C62C3-6AFB-41D3-88E0-2A6319F6F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46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Assets:</a:t>
            </a:r>
          </a:p>
          <a:p>
            <a:r>
              <a:rPr lang="en-US" dirty="0"/>
              <a:t>https://www.freepik.com/free-vector/third-party-logistics-3pl-transport-cargo-export-import_4997379.htm</a:t>
            </a:r>
          </a:p>
          <a:p>
            <a:r>
              <a:rPr lang="en-US" dirty="0"/>
              <a:t>https://www.freepik.com/free-vector/isometric-line-font-halftone-alphabet-letters_3685415.htm</a:t>
            </a:r>
          </a:p>
          <a:p>
            <a:r>
              <a:rPr lang="en-US" dirty="0"/>
              <a:t>https://www.freepik.com/free-vector/marketing-e-commerce-data-analysis-tool-isometric-web-banner_4997371.htm</a:t>
            </a:r>
          </a:p>
          <a:p>
            <a:r>
              <a:rPr lang="en-US" dirty="0"/>
              <a:t>https://www.freepik.com/free-vector/future-smart-technology-smartphone-with-application-self-driving-auto-screen_4997377.htm</a:t>
            </a:r>
          </a:p>
          <a:p>
            <a:r>
              <a:rPr lang="en-US" dirty="0"/>
              <a:t>https://www.freepik.com/free-vector/finances-isometric-horizontal-web-banner_3824488.htm</a:t>
            </a:r>
          </a:p>
          <a:p>
            <a:r>
              <a:rPr lang="en-US" dirty="0"/>
              <a:t>https://www.freepik.com/free-vector/fueling-gasoline-diesel-isometric-web-banner-fuel-nozzle-hose-droplet-gas_3586082.htm</a:t>
            </a:r>
          </a:p>
          <a:p>
            <a:r>
              <a:rPr lang="en-US" dirty="0"/>
              <a:t>https://www.freepik.com/free-vector/fueling-gas-gasoline-diesel-station-isometric-web-banner_4997387.htm</a:t>
            </a:r>
          </a:p>
          <a:p>
            <a:r>
              <a:rPr lang="en-US" dirty="0"/>
              <a:t>https://www.freepik.com/free-vector/business-partnership-line-art-isometric-banner-corporate-principles-business-team_3685465.htm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E9-C43D-4B95-9C1F-11E0EA3390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18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D1214-7CF9-026A-FDA6-BE0FE6C9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2EFDB-8F87-A09B-710D-C1B5FCB6F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D4193-DB9D-CD21-520D-AE7C34BA8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Assets:</a:t>
            </a:r>
          </a:p>
          <a:p>
            <a:r>
              <a:rPr lang="en-US" dirty="0"/>
              <a:t>https://www.freepik.com/free-vector/third-party-logistics-3pl-transport-cargo-export-import_4997379.htm</a:t>
            </a:r>
          </a:p>
          <a:p>
            <a:r>
              <a:rPr lang="en-US" dirty="0"/>
              <a:t>https://www.freepik.com/free-vector/isometric-line-font-halftone-alphabet-letters_3685415.htm</a:t>
            </a:r>
          </a:p>
          <a:p>
            <a:r>
              <a:rPr lang="en-US" dirty="0"/>
              <a:t>https://www.freepik.com/free-vector/marketing-e-commerce-data-analysis-tool-isometric-web-banner_4997371.htm</a:t>
            </a:r>
          </a:p>
          <a:p>
            <a:r>
              <a:rPr lang="en-US" dirty="0"/>
              <a:t>https://www.freepik.com/free-vector/future-smart-technology-smartphone-with-application-self-driving-auto-screen_4997377.htm</a:t>
            </a:r>
          </a:p>
          <a:p>
            <a:r>
              <a:rPr lang="en-US" dirty="0"/>
              <a:t>https://www.freepik.com/free-vector/finances-isometric-horizontal-web-banner_3824488.htm</a:t>
            </a:r>
          </a:p>
          <a:p>
            <a:r>
              <a:rPr lang="en-US" dirty="0"/>
              <a:t>https://www.freepik.com/free-vector/fueling-gasoline-diesel-isometric-web-banner-fuel-nozzle-hose-droplet-gas_3586082.htm</a:t>
            </a:r>
          </a:p>
          <a:p>
            <a:r>
              <a:rPr lang="en-US" dirty="0"/>
              <a:t>https://www.freepik.com/free-vector/fueling-gas-gasoline-diesel-station-isometric-web-banner_4997387.htm</a:t>
            </a:r>
          </a:p>
          <a:p>
            <a:r>
              <a:rPr lang="en-US" dirty="0"/>
              <a:t>https://www.freepik.com/free-vector/business-partnership-line-art-isometric-banner-corporate-principles-business-team_3685465.htm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A1C4F-6797-3CB9-2895-02A6B2CBD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E9-C43D-4B95-9C1F-11E0EA3390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69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5E93-1466-930F-C1E1-9BBACE05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1D77E-9B1E-5416-2635-DFB8BB6D5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E1CEA-F862-6B9E-94B4-130E5A46E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Assets:</a:t>
            </a:r>
          </a:p>
          <a:p>
            <a:r>
              <a:rPr lang="en-US" dirty="0"/>
              <a:t>https://www.freepik.com/free-vector/third-party-logistics-3pl-transport-cargo-export-import_4997379.htm</a:t>
            </a:r>
          </a:p>
          <a:p>
            <a:r>
              <a:rPr lang="en-US" dirty="0"/>
              <a:t>https://www.freepik.com/free-vector/isometric-line-font-halftone-alphabet-letters_3685415.htm</a:t>
            </a:r>
          </a:p>
          <a:p>
            <a:r>
              <a:rPr lang="en-US" dirty="0"/>
              <a:t>https://www.freepik.com/free-vector/marketing-e-commerce-data-analysis-tool-isometric-web-banner_4997371.htm</a:t>
            </a:r>
          </a:p>
          <a:p>
            <a:r>
              <a:rPr lang="en-US" dirty="0"/>
              <a:t>https://www.freepik.com/free-vector/future-smart-technology-smartphone-with-application-self-driving-auto-screen_4997377.htm</a:t>
            </a:r>
          </a:p>
          <a:p>
            <a:r>
              <a:rPr lang="en-US" dirty="0"/>
              <a:t>https://www.freepik.com/free-vector/finances-isometric-horizontal-web-banner_3824488.htm</a:t>
            </a:r>
          </a:p>
          <a:p>
            <a:r>
              <a:rPr lang="en-US" dirty="0"/>
              <a:t>https://www.freepik.com/free-vector/fueling-gasoline-diesel-isometric-web-banner-fuel-nozzle-hose-droplet-gas_3586082.htm</a:t>
            </a:r>
          </a:p>
          <a:p>
            <a:r>
              <a:rPr lang="en-US" dirty="0"/>
              <a:t>https://www.freepik.com/free-vector/fueling-gas-gasoline-diesel-station-isometric-web-banner_4997387.htm</a:t>
            </a:r>
          </a:p>
          <a:p>
            <a:r>
              <a:rPr lang="en-US" dirty="0"/>
              <a:t>https://www.freepik.com/free-vector/business-partnership-line-art-isometric-banner-corporate-principles-business-team_3685465.htm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97B97-53F4-722E-2419-74D951F1D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E9-C43D-4B95-9C1F-11E0EA3390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33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D5079-32EF-0083-B879-793D9E59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FCCB8-D897-CF4A-C53E-49ED88619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B8BAF-E34D-CB05-8A40-85CA78583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Assets:</a:t>
            </a:r>
          </a:p>
          <a:p>
            <a:r>
              <a:rPr lang="en-US" dirty="0"/>
              <a:t>https://www.freepik.com/free-vector/third-party-logistics-3pl-transport-cargo-export-import_4997379.htm</a:t>
            </a:r>
          </a:p>
          <a:p>
            <a:r>
              <a:rPr lang="en-US" dirty="0"/>
              <a:t>https://www.freepik.com/free-vector/isometric-line-font-halftone-alphabet-letters_3685415.htm</a:t>
            </a:r>
          </a:p>
          <a:p>
            <a:r>
              <a:rPr lang="en-US" dirty="0"/>
              <a:t>https://www.freepik.com/free-vector/marketing-e-commerce-data-analysis-tool-isometric-web-banner_4997371.htm</a:t>
            </a:r>
          </a:p>
          <a:p>
            <a:r>
              <a:rPr lang="en-US" dirty="0"/>
              <a:t>https://www.freepik.com/free-vector/future-smart-technology-smartphone-with-application-self-driving-auto-screen_4997377.htm</a:t>
            </a:r>
          </a:p>
          <a:p>
            <a:r>
              <a:rPr lang="en-US" dirty="0"/>
              <a:t>https://www.freepik.com/free-vector/finances-isometric-horizontal-web-banner_3824488.htm</a:t>
            </a:r>
          </a:p>
          <a:p>
            <a:r>
              <a:rPr lang="en-US" dirty="0"/>
              <a:t>https://www.freepik.com/free-vector/fueling-gasoline-diesel-isometric-web-banner-fuel-nozzle-hose-droplet-gas_3586082.htm</a:t>
            </a:r>
          </a:p>
          <a:p>
            <a:r>
              <a:rPr lang="en-US" dirty="0"/>
              <a:t>https://www.freepik.com/free-vector/fueling-gas-gasoline-diesel-station-isometric-web-banner_4997387.htm</a:t>
            </a:r>
          </a:p>
          <a:p>
            <a:r>
              <a:rPr lang="en-US" dirty="0"/>
              <a:t>https://www.freepik.com/free-vector/business-partnership-line-art-isometric-banner-corporate-principles-business-team_3685465.htm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00B34-B792-7946-734A-6B58C624B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E9-C43D-4B95-9C1F-11E0EA3390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96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FCAD7-EA47-51ED-1296-C3A752192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52B7E-BFBB-55E1-F308-4F14BA286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23B4D-69E9-E8BF-BE85-6B7EB546E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Assets:</a:t>
            </a:r>
          </a:p>
          <a:p>
            <a:r>
              <a:rPr lang="en-US" dirty="0"/>
              <a:t>https://www.freepik.com/free-vector/third-party-logistics-3pl-transport-cargo-export-import_4997379.htm</a:t>
            </a:r>
          </a:p>
          <a:p>
            <a:r>
              <a:rPr lang="en-US" dirty="0"/>
              <a:t>https://www.freepik.com/free-vector/isometric-line-font-halftone-alphabet-letters_3685415.htm</a:t>
            </a:r>
          </a:p>
          <a:p>
            <a:r>
              <a:rPr lang="en-US" dirty="0"/>
              <a:t>https://www.freepik.com/free-vector/marketing-e-commerce-data-analysis-tool-isometric-web-banner_4997371.htm</a:t>
            </a:r>
          </a:p>
          <a:p>
            <a:r>
              <a:rPr lang="en-US" dirty="0"/>
              <a:t>https://www.freepik.com/free-vector/future-smart-technology-smartphone-with-application-self-driving-auto-screen_4997377.htm</a:t>
            </a:r>
          </a:p>
          <a:p>
            <a:r>
              <a:rPr lang="en-US" dirty="0"/>
              <a:t>https://www.freepik.com/free-vector/finances-isometric-horizontal-web-banner_3824488.htm</a:t>
            </a:r>
          </a:p>
          <a:p>
            <a:r>
              <a:rPr lang="en-US" dirty="0"/>
              <a:t>https://www.freepik.com/free-vector/fueling-gasoline-diesel-isometric-web-banner-fuel-nozzle-hose-droplet-gas_3586082.htm</a:t>
            </a:r>
          </a:p>
          <a:p>
            <a:r>
              <a:rPr lang="en-US" dirty="0"/>
              <a:t>https://www.freepik.com/free-vector/fueling-gas-gasoline-diesel-station-isometric-web-banner_4997387.htm</a:t>
            </a:r>
          </a:p>
          <a:p>
            <a:r>
              <a:rPr lang="en-US" dirty="0"/>
              <a:t>https://www.freepik.com/free-vector/business-partnership-line-art-isometric-banner-corporate-principles-business-team_3685465.htm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10FB1-2959-0E3C-3B6A-E21D4824B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E9-C43D-4B95-9C1F-11E0EA3390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19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31296-E642-6664-70DA-A42716965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72C52-B3A2-A154-B09B-5D7B00FD8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F85DF-C64F-6240-2F75-7AD443358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Assets:</a:t>
            </a:r>
          </a:p>
          <a:p>
            <a:r>
              <a:rPr lang="en-US" dirty="0"/>
              <a:t>https://www.freepik.com/free-vector/third-party-logistics-3pl-transport-cargo-export-import_4997379.htm</a:t>
            </a:r>
          </a:p>
          <a:p>
            <a:r>
              <a:rPr lang="en-US" dirty="0"/>
              <a:t>https://www.freepik.com/free-vector/isometric-line-font-halftone-alphabet-letters_3685415.htm</a:t>
            </a:r>
          </a:p>
          <a:p>
            <a:r>
              <a:rPr lang="en-US" dirty="0"/>
              <a:t>https://www.freepik.com/free-vector/marketing-e-commerce-data-analysis-tool-isometric-web-banner_4997371.htm</a:t>
            </a:r>
          </a:p>
          <a:p>
            <a:r>
              <a:rPr lang="en-US" dirty="0"/>
              <a:t>https://www.freepik.com/free-vector/future-smart-technology-smartphone-with-application-self-driving-auto-screen_4997377.htm</a:t>
            </a:r>
          </a:p>
          <a:p>
            <a:r>
              <a:rPr lang="en-US" dirty="0"/>
              <a:t>https://www.freepik.com/free-vector/finances-isometric-horizontal-web-banner_3824488.htm</a:t>
            </a:r>
          </a:p>
          <a:p>
            <a:r>
              <a:rPr lang="en-US" dirty="0"/>
              <a:t>https://www.freepik.com/free-vector/fueling-gasoline-diesel-isometric-web-banner-fuel-nozzle-hose-droplet-gas_3586082.htm</a:t>
            </a:r>
          </a:p>
          <a:p>
            <a:r>
              <a:rPr lang="en-US" dirty="0"/>
              <a:t>https://www.freepik.com/free-vector/fueling-gas-gasoline-diesel-station-isometric-web-banner_4997387.htm</a:t>
            </a:r>
          </a:p>
          <a:p>
            <a:r>
              <a:rPr lang="en-US" dirty="0"/>
              <a:t>https://www.freepik.com/free-vector/business-partnership-line-art-isometric-banner-corporate-principles-business-team_3685465.htm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A9294-3758-A495-D570-A44778FB9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E9-C43D-4B95-9C1F-11E0EA3390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41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92748-F518-F277-EAE9-E6EC79D0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D279E-3CC7-0B5F-3DE3-9B7583CF3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F9E16-FA1A-A77A-15C5-AC776B376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Assets:</a:t>
            </a:r>
          </a:p>
          <a:p>
            <a:r>
              <a:rPr lang="en-US" dirty="0"/>
              <a:t>https://www.freepik.com/free-vector/third-party-logistics-3pl-transport-cargo-export-import_4997379.htm</a:t>
            </a:r>
          </a:p>
          <a:p>
            <a:r>
              <a:rPr lang="en-US" dirty="0"/>
              <a:t>https://www.freepik.com/free-vector/isometric-line-font-halftone-alphabet-letters_3685415.htm</a:t>
            </a:r>
          </a:p>
          <a:p>
            <a:r>
              <a:rPr lang="en-US" dirty="0"/>
              <a:t>https://www.freepik.com/free-vector/marketing-e-commerce-data-analysis-tool-isometric-web-banner_4997371.htm</a:t>
            </a:r>
          </a:p>
          <a:p>
            <a:r>
              <a:rPr lang="en-US" dirty="0"/>
              <a:t>https://www.freepik.com/free-vector/future-smart-technology-smartphone-with-application-self-driving-auto-screen_4997377.htm</a:t>
            </a:r>
          </a:p>
          <a:p>
            <a:r>
              <a:rPr lang="en-US" dirty="0"/>
              <a:t>https://www.freepik.com/free-vector/finances-isometric-horizontal-web-banner_3824488.htm</a:t>
            </a:r>
          </a:p>
          <a:p>
            <a:r>
              <a:rPr lang="en-US" dirty="0"/>
              <a:t>https://www.freepik.com/free-vector/fueling-gasoline-diesel-isometric-web-banner-fuel-nozzle-hose-droplet-gas_3586082.htm</a:t>
            </a:r>
          </a:p>
          <a:p>
            <a:r>
              <a:rPr lang="en-US" dirty="0"/>
              <a:t>https://www.freepik.com/free-vector/fueling-gas-gasoline-diesel-station-isometric-web-banner_4997387.htm</a:t>
            </a:r>
          </a:p>
          <a:p>
            <a:r>
              <a:rPr lang="en-US" dirty="0"/>
              <a:t>https://www.freepik.com/free-vector/business-partnership-line-art-isometric-banner-corporate-principles-business-team_3685465.htm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588BD-6858-A2C1-7561-20AFCDD55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E9-C43D-4B95-9C1F-11E0EA3390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20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F42D5-C01A-53A2-5315-D6FB860F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28D4C-B521-ECAE-94A0-1E88E907A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A515C-B69F-F1A4-4542-2CF508285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Assets:</a:t>
            </a:r>
          </a:p>
          <a:p>
            <a:r>
              <a:rPr lang="en-US" dirty="0"/>
              <a:t>https://www.freepik.com/free-vector/third-party-logistics-3pl-transport-cargo-export-import_4997379.htm</a:t>
            </a:r>
          </a:p>
          <a:p>
            <a:r>
              <a:rPr lang="en-US" dirty="0"/>
              <a:t>https://www.freepik.com/free-vector/isometric-line-font-halftone-alphabet-letters_3685415.htm</a:t>
            </a:r>
          </a:p>
          <a:p>
            <a:r>
              <a:rPr lang="en-US" dirty="0"/>
              <a:t>https://www.freepik.com/free-vector/marketing-e-commerce-data-analysis-tool-isometric-web-banner_4997371.htm</a:t>
            </a:r>
          </a:p>
          <a:p>
            <a:r>
              <a:rPr lang="en-US" dirty="0"/>
              <a:t>https://www.freepik.com/free-vector/future-smart-technology-smartphone-with-application-self-driving-auto-screen_4997377.htm</a:t>
            </a:r>
          </a:p>
          <a:p>
            <a:r>
              <a:rPr lang="en-US" dirty="0"/>
              <a:t>https://www.freepik.com/free-vector/finances-isometric-horizontal-web-banner_3824488.htm</a:t>
            </a:r>
          </a:p>
          <a:p>
            <a:r>
              <a:rPr lang="en-US" dirty="0"/>
              <a:t>https://www.freepik.com/free-vector/fueling-gasoline-diesel-isometric-web-banner-fuel-nozzle-hose-droplet-gas_3586082.htm</a:t>
            </a:r>
          </a:p>
          <a:p>
            <a:r>
              <a:rPr lang="en-US" dirty="0"/>
              <a:t>https://www.freepik.com/free-vector/fueling-gas-gasoline-diesel-station-isometric-web-banner_4997387.htm</a:t>
            </a:r>
          </a:p>
          <a:p>
            <a:r>
              <a:rPr lang="en-US" dirty="0"/>
              <a:t>https://www.freepik.com/free-vector/business-partnership-line-art-isometric-banner-corporate-principles-business-team_3685465.htm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9CA95-4E2E-9786-D42A-F86568F8A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E9-C43D-4B95-9C1F-11E0EA3390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37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C318F-5294-4509-869D-17CB794A5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A1F5C-066F-F1E3-2C28-43F5B50AA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0D602-B9C0-FBD3-1B00-400BEE025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Assets:</a:t>
            </a:r>
          </a:p>
          <a:p>
            <a:r>
              <a:rPr lang="en-US" dirty="0"/>
              <a:t>https://www.freepik.com/free-vector/third-party-logistics-3pl-transport-cargo-export-import_4997379.htm</a:t>
            </a:r>
          </a:p>
          <a:p>
            <a:r>
              <a:rPr lang="en-US" dirty="0"/>
              <a:t>https://www.freepik.com/free-vector/isometric-line-font-halftone-alphabet-letters_3685415.htm</a:t>
            </a:r>
          </a:p>
          <a:p>
            <a:r>
              <a:rPr lang="en-US" dirty="0"/>
              <a:t>https://www.freepik.com/free-vector/marketing-e-commerce-data-analysis-tool-isometric-web-banner_4997371.htm</a:t>
            </a:r>
          </a:p>
          <a:p>
            <a:r>
              <a:rPr lang="en-US" dirty="0"/>
              <a:t>https://www.freepik.com/free-vector/future-smart-technology-smartphone-with-application-self-driving-auto-screen_4997377.htm</a:t>
            </a:r>
          </a:p>
          <a:p>
            <a:r>
              <a:rPr lang="en-US" dirty="0"/>
              <a:t>https://www.freepik.com/free-vector/finances-isometric-horizontal-web-banner_3824488.htm</a:t>
            </a:r>
          </a:p>
          <a:p>
            <a:r>
              <a:rPr lang="en-US" dirty="0"/>
              <a:t>https://www.freepik.com/free-vector/fueling-gasoline-diesel-isometric-web-banner-fuel-nozzle-hose-droplet-gas_3586082.htm</a:t>
            </a:r>
          </a:p>
          <a:p>
            <a:r>
              <a:rPr lang="en-US" dirty="0"/>
              <a:t>https://www.freepik.com/free-vector/fueling-gas-gasoline-diesel-station-isometric-web-banner_4997387.htm</a:t>
            </a:r>
          </a:p>
          <a:p>
            <a:r>
              <a:rPr lang="en-US" dirty="0"/>
              <a:t>https://www.freepik.com/free-vector/business-partnership-line-art-isometric-banner-corporate-principles-business-team_3685465.htm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E1390-4DD5-45D7-099E-681B425E2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E9-C43D-4B95-9C1F-11E0EA3390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53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640B-8E34-1EA0-1801-E3985DA57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F3C95-BCA2-9A4F-2A71-B9FAB6FFE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A05D-125B-A5A1-DF2A-3DB4EAFA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A2DC8-CB45-4F1E-F767-3AF69203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1C3E7-2183-A728-D1CB-A16F1FA8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493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CD8BA-CA8B-94CA-E5B4-667C7678D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C4046-BD95-5154-DBE3-9F80B91E6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3334C-13F7-AF23-32C5-35082CF9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8445B-E144-9B65-75C3-934218EA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EF354-4B7D-8A08-7404-4C2CD846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81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DFDA-4161-7328-FDE0-0BF75246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C6724-BA17-9525-DC0B-8830F42C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5FDDC-970D-9ED3-5CD1-BB2B59A97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A3B98-2E04-35A7-D999-45407B47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56B4F-293D-7370-D2CE-E1C7EE8C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258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7CDE-6F27-D1ED-343F-64EA98F3D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2315-151C-2EA5-079A-DE06A7C18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85063-7F46-12C4-F94C-5BE44589E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784C9-9290-A041-0873-7B48BB464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66C48-C02C-2C6C-C83D-64F60B08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6136D-8988-7D78-C4B0-EF5F98BF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05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E010-28DE-620C-49B1-808D0278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E3EF5-36D9-8F53-48A1-042EFBC63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88087-8542-3AF5-A40F-0238BCB58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13199-96B7-580C-06E6-CFB926A5B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E3CEB6-5A64-05A0-ACAC-775781B01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700CFB-69E9-D1A9-7577-6DC6BFB4D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471E39-B7E8-B6FD-8708-9CA89331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A5A3F-BC4F-BBC7-17B3-A848CB9B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29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7D04-05DA-ACB7-F5CB-38029B364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1D779-3535-8EA1-F2D7-6B4BE83CC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40A7A-CD91-EA84-E94E-C1D3AD69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D6DE7E-D588-DB38-4590-876F32DB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23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FD9C46-A2A6-48B3-9A6B-3356685E4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18515-25DF-12DC-A265-7C0AD25CE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0529F-46BF-2A50-B9A7-22EDB0F6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667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2922-16C4-560A-63CD-E47B39CDA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65A8C-0E7D-F84A-8539-14E1D08F2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72590-66C1-C341-EEB3-27ECC2308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F1FE8-46D1-C195-F7A9-42802CBA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44588-9AEC-9181-199C-58F9E727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D4249-8CF6-F52A-9FE1-192414F3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2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E4A5-1391-B11D-6E61-884667943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FA079-80C4-516B-9029-8038B3225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0A618-116C-C58F-07D6-514DB66BB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92BB8-14B8-4FAD-2AB2-C051CC88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1E659-19AE-D4E5-C76D-6944C14F5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E7C97-120D-133D-48D8-C57BE68C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33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5EAF1-59C0-0985-E0FA-FD2AAE85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6D4D1-9451-0DD2-9E87-64A8C0229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493DE-F206-6919-20E5-2A2B9EDD2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703C8-F348-CDAF-B2DC-0CAE33B29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ED8B3-5C2B-6242-28FA-0BA85F6FE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40C5E2-AE1F-9798-40D9-1110ED530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CB3B3-2FC4-6DFF-21C8-58AAB484E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8903C-EA0C-8912-C7F6-634056316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F5EF4-9127-DC84-981E-42DEC529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222AE-1CF7-52BE-EEBC-82604BBF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59FC32-E244-7FDC-E8C2-4F897502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F3B66-833B-CC2C-2408-E8F228292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40F59-567E-8F3F-6089-580829850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030D6-9C63-4864-BF04-49CE98C5B51B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08AAB-A893-9A0F-0F63-089C01EA6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ED85C-F044-7C2E-41E5-2E8F4A026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2EF33-0969-4E55-915D-3381B2547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43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573D29-9380-4DA8-AFAE-BCE52231E30A}"/>
              </a:ext>
            </a:extLst>
          </p:cNvPr>
          <p:cNvSpPr txBox="1"/>
          <p:nvPr/>
        </p:nvSpPr>
        <p:spPr>
          <a:xfrm>
            <a:off x="428624" y="1386661"/>
            <a:ext cx="7934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Rockwell Condensed" panose="02060603050405020104" pitchFamily="18" charset="0"/>
              </a:rPr>
              <a:t>The Constituencies behind Tamil Nadu 2026 Verdict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B30601-C6DB-4F08-80A9-2665F160CB90}"/>
              </a:ext>
            </a:extLst>
          </p:cNvPr>
          <p:cNvSpPr txBox="1"/>
          <p:nvPr/>
        </p:nvSpPr>
        <p:spPr>
          <a:xfrm>
            <a:off x="428625" y="468125"/>
            <a:ext cx="358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latin typeface="Old English Text MT" panose="03040902040508030806" pitchFamily="66" charset="0"/>
              </a:rPr>
              <a:t>Atliq</a:t>
            </a:r>
            <a:r>
              <a:rPr lang="en-US" sz="4400" dirty="0">
                <a:latin typeface="Old English Text MT" panose="03040902040508030806" pitchFamily="66" charset="0"/>
              </a:rPr>
              <a:t> Media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10B523-C29E-4DB4-992D-EEDF4800C44C}"/>
              </a:ext>
            </a:extLst>
          </p:cNvPr>
          <p:cNvCxnSpPr>
            <a:cxnSpLocks/>
          </p:cNvCxnSpPr>
          <p:nvPr/>
        </p:nvCxnSpPr>
        <p:spPr>
          <a:xfrm>
            <a:off x="3687739" y="876300"/>
            <a:ext cx="6626271" cy="0"/>
          </a:xfrm>
          <a:prstGeom prst="line">
            <a:avLst/>
          </a:prstGeom>
          <a:ln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5" name="Google Shape;211;p16">
            <a:extLst>
              <a:ext uri="{FF2B5EF4-FFF2-40B4-BE49-F238E27FC236}">
                <a16:creationId xmlns:a16="http://schemas.microsoft.com/office/drawing/2014/main" id="{EC6E681F-774B-EF06-DD60-94B3D77B8F90}"/>
              </a:ext>
            </a:extLst>
          </p:cNvPr>
          <p:cNvSpPr txBox="1"/>
          <p:nvPr/>
        </p:nvSpPr>
        <p:spPr>
          <a:xfrm>
            <a:off x="200455" y="2246717"/>
            <a:ext cx="833376" cy="548619"/>
          </a:xfrm>
          <a:prstGeom prst="rect">
            <a:avLst/>
          </a:prstGeom>
          <a:solidFill>
            <a:srgbClr val="559E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Fira Sans Extra Condensed"/>
              </a:rPr>
              <a:t>234 </a:t>
            </a:r>
            <a:endParaRPr sz="1600" b="1" dirty="0">
              <a:solidFill>
                <a:schemeClr val="lt1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Fira Sans Extra Condensed"/>
            </a:endParaRPr>
          </a:p>
        </p:txBody>
      </p:sp>
      <p:sp>
        <p:nvSpPr>
          <p:cNvPr id="1616" name="Google Shape;212;p16">
            <a:extLst>
              <a:ext uri="{FF2B5EF4-FFF2-40B4-BE49-F238E27FC236}">
                <a16:creationId xmlns:a16="http://schemas.microsoft.com/office/drawing/2014/main" id="{A471BF93-63A6-8FC9-6D6E-2DB0EB3A0DE2}"/>
              </a:ext>
            </a:extLst>
          </p:cNvPr>
          <p:cNvSpPr txBox="1"/>
          <p:nvPr/>
        </p:nvSpPr>
        <p:spPr>
          <a:xfrm>
            <a:off x="1055396" y="2246717"/>
            <a:ext cx="2062707" cy="548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82880" tIns="91425" rIns="91425" bIns="91425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i="0" dirty="0">
                <a:effectLst/>
                <a:latin typeface="Open Sans" pitchFamily="2" charset="0"/>
              </a:rPr>
              <a:t>Assembly Seats </a:t>
            </a:r>
            <a:endParaRPr kumimoji="0" lang="da-DK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617" name="Google Shape;211;p16">
            <a:extLst>
              <a:ext uri="{FF2B5EF4-FFF2-40B4-BE49-F238E27FC236}">
                <a16:creationId xmlns:a16="http://schemas.microsoft.com/office/drawing/2014/main" id="{3E1BB7B1-939C-0432-DC1C-027C872FC218}"/>
              </a:ext>
            </a:extLst>
          </p:cNvPr>
          <p:cNvSpPr txBox="1"/>
          <p:nvPr/>
        </p:nvSpPr>
        <p:spPr>
          <a:xfrm>
            <a:off x="3294547" y="2246728"/>
            <a:ext cx="833376" cy="548619"/>
          </a:xfrm>
          <a:prstGeom prst="rect">
            <a:avLst/>
          </a:prstGeom>
          <a:solidFill>
            <a:srgbClr val="559E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Fira Sans Extra Condensed"/>
              </a:rPr>
              <a:t>118</a:t>
            </a:r>
            <a:endParaRPr sz="1600" b="1" dirty="0">
              <a:solidFill>
                <a:schemeClr val="lt1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Fira Sans Extra Condensed"/>
            </a:endParaRPr>
          </a:p>
        </p:txBody>
      </p:sp>
      <p:sp>
        <p:nvSpPr>
          <p:cNvPr id="1618" name="Google Shape;212;p16">
            <a:extLst>
              <a:ext uri="{FF2B5EF4-FFF2-40B4-BE49-F238E27FC236}">
                <a16:creationId xmlns:a16="http://schemas.microsoft.com/office/drawing/2014/main" id="{6E63D6B0-6792-1291-EE52-5E059EE451A5}"/>
              </a:ext>
            </a:extLst>
          </p:cNvPr>
          <p:cNvSpPr txBox="1"/>
          <p:nvPr/>
        </p:nvSpPr>
        <p:spPr>
          <a:xfrm>
            <a:off x="4149488" y="2246728"/>
            <a:ext cx="1894695" cy="548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82880" tIns="91425" rIns="91425" bIns="91425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Maj</a:t>
            </a:r>
            <a:r>
              <a:rPr lang="en-US" sz="1600" b="1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ority</a:t>
            </a: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 Mark</a:t>
            </a:r>
            <a:endParaRPr kumimoji="0" lang="da-DK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628" name="Google Shape;211;p16">
            <a:extLst>
              <a:ext uri="{FF2B5EF4-FFF2-40B4-BE49-F238E27FC236}">
                <a16:creationId xmlns:a16="http://schemas.microsoft.com/office/drawing/2014/main" id="{42261239-288A-6AB1-2294-26F38D4EF382}"/>
              </a:ext>
            </a:extLst>
          </p:cNvPr>
          <p:cNvSpPr txBox="1"/>
          <p:nvPr/>
        </p:nvSpPr>
        <p:spPr>
          <a:xfrm>
            <a:off x="6319288" y="2246717"/>
            <a:ext cx="833376" cy="548619"/>
          </a:xfrm>
          <a:prstGeom prst="rect">
            <a:avLst/>
          </a:prstGeom>
          <a:solidFill>
            <a:srgbClr val="559E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Fira Sans Extra Condensed"/>
              </a:rPr>
              <a:t>3873</a:t>
            </a:r>
            <a:endParaRPr sz="1600" b="1" dirty="0">
              <a:solidFill>
                <a:schemeClr val="lt1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Fira Sans Extra Condensed"/>
            </a:endParaRPr>
          </a:p>
        </p:txBody>
      </p:sp>
      <p:sp>
        <p:nvSpPr>
          <p:cNvPr id="1629" name="Google Shape;212;p16">
            <a:extLst>
              <a:ext uri="{FF2B5EF4-FFF2-40B4-BE49-F238E27FC236}">
                <a16:creationId xmlns:a16="http://schemas.microsoft.com/office/drawing/2014/main" id="{5AD84E9D-61E2-D79C-31E3-DE2378197614}"/>
              </a:ext>
            </a:extLst>
          </p:cNvPr>
          <p:cNvSpPr txBox="1"/>
          <p:nvPr/>
        </p:nvSpPr>
        <p:spPr>
          <a:xfrm>
            <a:off x="7174229" y="2246717"/>
            <a:ext cx="4731259" cy="548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82880" tIns="91425" rIns="91425" bIns="91425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i="0" dirty="0"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Candidate Count </a:t>
            </a: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(Down from 3885 in 2021)</a:t>
            </a:r>
            <a:endParaRPr kumimoji="0" lang="da-DK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pSp>
        <p:nvGrpSpPr>
          <p:cNvPr id="1632" name="Google Shape;1658;p16">
            <a:extLst>
              <a:ext uri="{FF2B5EF4-FFF2-40B4-BE49-F238E27FC236}">
                <a16:creationId xmlns:a16="http://schemas.microsoft.com/office/drawing/2014/main" id="{5BA99B3D-ACB9-8B91-B21D-2EE8F55F5B76}"/>
              </a:ext>
            </a:extLst>
          </p:cNvPr>
          <p:cNvGrpSpPr/>
          <p:nvPr/>
        </p:nvGrpSpPr>
        <p:grpSpPr>
          <a:xfrm>
            <a:off x="7344688" y="3810748"/>
            <a:ext cx="4149634" cy="2864372"/>
            <a:chOff x="2296574" y="1498733"/>
            <a:chExt cx="4572048" cy="1039387"/>
          </a:xfrm>
        </p:grpSpPr>
        <p:sp>
          <p:nvSpPr>
            <p:cNvPr id="1633" name="Google Shape;1659;p16">
              <a:extLst>
                <a:ext uri="{FF2B5EF4-FFF2-40B4-BE49-F238E27FC236}">
                  <a16:creationId xmlns:a16="http://schemas.microsoft.com/office/drawing/2014/main" id="{B1761404-E8B5-A558-7D80-7989D4D5D61D}"/>
                </a:ext>
              </a:extLst>
            </p:cNvPr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1634" name="Google Shape;1660;p16">
              <a:extLst>
                <a:ext uri="{FF2B5EF4-FFF2-40B4-BE49-F238E27FC236}">
                  <a16:creationId xmlns:a16="http://schemas.microsoft.com/office/drawing/2014/main" id="{3656E8BB-6C64-5FF3-17ED-B8543F4A4D83}"/>
                </a:ext>
              </a:extLst>
            </p:cNvPr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35" name="Google Shape;1661;p16">
            <a:extLst>
              <a:ext uri="{FF2B5EF4-FFF2-40B4-BE49-F238E27FC236}">
                <a16:creationId xmlns:a16="http://schemas.microsoft.com/office/drawing/2014/main" id="{21154855-46D3-E732-CECA-DBC47C86B1F6}"/>
              </a:ext>
            </a:extLst>
          </p:cNvPr>
          <p:cNvSpPr/>
          <p:nvPr/>
        </p:nvSpPr>
        <p:spPr>
          <a:xfrm rot="5400000">
            <a:off x="7418994" y="4131377"/>
            <a:ext cx="330712" cy="470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0D6E6">
              <a:alpha val="5137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7" name="Google Shape;1663;p16">
            <a:extLst>
              <a:ext uri="{FF2B5EF4-FFF2-40B4-BE49-F238E27FC236}">
                <a16:creationId xmlns:a16="http://schemas.microsoft.com/office/drawing/2014/main" id="{F9434D0E-5964-E03B-7DD1-9A3CE4AA6E5B}"/>
              </a:ext>
            </a:extLst>
          </p:cNvPr>
          <p:cNvSpPr/>
          <p:nvPr/>
        </p:nvSpPr>
        <p:spPr>
          <a:xfrm rot="10800000" flipH="1">
            <a:off x="7547062" y="4276376"/>
            <a:ext cx="180722" cy="1807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639" name="Google Shape;1665;p16">
            <a:extLst>
              <a:ext uri="{FF2B5EF4-FFF2-40B4-BE49-F238E27FC236}">
                <a16:creationId xmlns:a16="http://schemas.microsoft.com/office/drawing/2014/main" id="{116C3F9F-8536-E60E-1C62-FA0AD8F5C657}"/>
              </a:ext>
            </a:extLst>
          </p:cNvPr>
          <p:cNvGrpSpPr/>
          <p:nvPr/>
        </p:nvGrpSpPr>
        <p:grpSpPr>
          <a:xfrm>
            <a:off x="11144849" y="4932586"/>
            <a:ext cx="667334" cy="667333"/>
            <a:chOff x="1691842" y="2809946"/>
            <a:chExt cx="607731" cy="607731"/>
          </a:xfrm>
        </p:grpSpPr>
        <p:sp>
          <p:nvSpPr>
            <p:cNvPr id="1640" name="Google Shape;1666;p16">
              <a:extLst>
                <a:ext uri="{FF2B5EF4-FFF2-40B4-BE49-F238E27FC236}">
                  <a16:creationId xmlns:a16="http://schemas.microsoft.com/office/drawing/2014/main" id="{B0D18824-2E00-4942-53BD-A7C301F9076B}"/>
                </a:ext>
              </a:extLst>
            </p:cNvPr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41" name="Google Shape;1667;p16">
              <a:extLst>
                <a:ext uri="{FF2B5EF4-FFF2-40B4-BE49-F238E27FC236}">
                  <a16:creationId xmlns:a16="http://schemas.microsoft.com/office/drawing/2014/main" id="{DF398305-0861-AE3D-2722-1D1F78ED6A4E}"/>
                </a:ext>
              </a:extLst>
            </p:cNvPr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642" name="Google Shape;1668;p16">
            <a:extLst>
              <a:ext uri="{FF2B5EF4-FFF2-40B4-BE49-F238E27FC236}">
                <a16:creationId xmlns:a16="http://schemas.microsoft.com/office/drawing/2014/main" id="{94DD151B-9E81-B8D3-BA75-34D90F50EC4E}"/>
              </a:ext>
            </a:extLst>
          </p:cNvPr>
          <p:cNvSpPr txBox="1"/>
          <p:nvPr/>
        </p:nvSpPr>
        <p:spPr>
          <a:xfrm>
            <a:off x="7965492" y="4634648"/>
            <a:ext cx="3066197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Focus the opening of the show on the transition to a tri-polar electoral landscape to set the stage for the statewide shift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1500" b="0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sets the foundation to examine exactly where these new power centers emerged on a regional level</a:t>
            </a:r>
            <a:endParaRPr sz="1500" b="0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3" name="Google Shape;1669;p16">
            <a:extLst>
              <a:ext uri="{FF2B5EF4-FFF2-40B4-BE49-F238E27FC236}">
                <a16:creationId xmlns:a16="http://schemas.microsoft.com/office/drawing/2014/main" id="{80A45BC1-28DB-93E6-C7BC-FB584F881603}"/>
              </a:ext>
            </a:extLst>
          </p:cNvPr>
          <p:cNvSpPr txBox="1"/>
          <p:nvPr/>
        </p:nvSpPr>
        <p:spPr>
          <a:xfrm>
            <a:off x="7965492" y="4257064"/>
            <a:ext cx="338304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Editorial Recommendation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645" name="Google Shape;1698;p16">
            <a:extLst>
              <a:ext uri="{FF2B5EF4-FFF2-40B4-BE49-F238E27FC236}">
                <a16:creationId xmlns:a16="http://schemas.microsoft.com/office/drawing/2014/main" id="{7ACFA3B1-183B-6884-4EFE-BCAF89B74C70}"/>
              </a:ext>
            </a:extLst>
          </p:cNvPr>
          <p:cNvCxnSpPr>
            <a:cxnSpLocks/>
          </p:cNvCxnSpPr>
          <p:nvPr/>
        </p:nvCxnSpPr>
        <p:spPr>
          <a:xfrm flipH="1">
            <a:off x="7965492" y="4532093"/>
            <a:ext cx="1009521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54" name="TextBox 1653">
            <a:extLst>
              <a:ext uri="{FF2B5EF4-FFF2-40B4-BE49-F238E27FC236}">
                <a16:creationId xmlns:a16="http://schemas.microsoft.com/office/drawing/2014/main" id="{4A4FDAB1-965E-900A-4B0A-E3F18E297F28}"/>
              </a:ext>
            </a:extLst>
          </p:cNvPr>
          <p:cNvSpPr txBox="1"/>
          <p:nvPr/>
        </p:nvSpPr>
        <p:spPr>
          <a:xfrm>
            <a:off x="7250968" y="2976793"/>
            <a:ext cx="42275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2026 landscape moved from a traditional bipolar contest between DMK+ and AIADMK+ to a tri-polar environment with the significant entry of TVK</a:t>
            </a:r>
            <a:endParaRPr lang="en-IN" sz="1400" dirty="0"/>
          </a:p>
        </p:txBody>
      </p:sp>
      <p:pic>
        <p:nvPicPr>
          <p:cNvPr id="1658" name="Picture 1657">
            <a:extLst>
              <a:ext uri="{FF2B5EF4-FFF2-40B4-BE49-F238E27FC236}">
                <a16:creationId xmlns:a16="http://schemas.microsoft.com/office/drawing/2014/main" id="{5FB04C8E-D580-04B3-15FB-C830865F3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23" y="3728571"/>
            <a:ext cx="6481909" cy="2674610"/>
          </a:xfrm>
          <a:prstGeom prst="rect">
            <a:avLst/>
          </a:prstGeom>
        </p:spPr>
      </p:pic>
      <p:sp>
        <p:nvSpPr>
          <p:cNvPr id="1659" name="TextBox 1658">
            <a:extLst>
              <a:ext uri="{FF2B5EF4-FFF2-40B4-BE49-F238E27FC236}">
                <a16:creationId xmlns:a16="http://schemas.microsoft.com/office/drawing/2014/main" id="{FB8E78E4-1ED2-4A7B-E424-6835DD8C5988}"/>
              </a:ext>
            </a:extLst>
          </p:cNvPr>
          <p:cNvSpPr txBox="1"/>
          <p:nvPr/>
        </p:nvSpPr>
        <p:spPr>
          <a:xfrm>
            <a:off x="2265312" y="3213555"/>
            <a:ext cx="327595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r>
              <a:rPr lang="en-US" dirty="0"/>
              <a:t>Aggregate Seat Count of Alliances </a:t>
            </a:r>
            <a:endParaRPr lang="en-IN" dirty="0"/>
          </a:p>
        </p:txBody>
      </p:sp>
      <p:sp>
        <p:nvSpPr>
          <p:cNvPr id="1660" name="Google Shape;1669;p16">
            <a:extLst>
              <a:ext uri="{FF2B5EF4-FFF2-40B4-BE49-F238E27FC236}">
                <a16:creationId xmlns:a16="http://schemas.microsoft.com/office/drawing/2014/main" id="{3C827985-0D40-EC1C-0005-FAC986551109}"/>
              </a:ext>
            </a:extLst>
          </p:cNvPr>
          <p:cNvSpPr txBox="1"/>
          <p:nvPr/>
        </p:nvSpPr>
        <p:spPr>
          <a:xfrm>
            <a:off x="1940445" y="6487309"/>
            <a:ext cx="102387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2021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61" name="Google Shape;1669;p16">
            <a:extLst>
              <a:ext uri="{FF2B5EF4-FFF2-40B4-BE49-F238E27FC236}">
                <a16:creationId xmlns:a16="http://schemas.microsoft.com/office/drawing/2014/main" id="{7CC1952C-CF0D-CCEC-74B6-8B2AC49B77B3}"/>
              </a:ext>
            </a:extLst>
          </p:cNvPr>
          <p:cNvSpPr txBox="1"/>
          <p:nvPr/>
        </p:nvSpPr>
        <p:spPr>
          <a:xfrm>
            <a:off x="5096835" y="6487309"/>
            <a:ext cx="102387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71072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FC4AE-A946-3D5B-88A4-F19F378A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0C7831-4430-650C-1F88-791EB96CD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8" y="1515768"/>
            <a:ext cx="8716591" cy="4010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C7B21A-9D12-3BA4-2E84-5EEF0A2093DD}"/>
              </a:ext>
            </a:extLst>
          </p:cNvPr>
          <p:cNvSpPr txBox="1"/>
          <p:nvPr/>
        </p:nvSpPr>
        <p:spPr>
          <a:xfrm>
            <a:off x="389710" y="428993"/>
            <a:ext cx="7934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Rockwell Condensed" panose="02060603050405020104" pitchFamily="18" charset="0"/>
              </a:rPr>
              <a:t>The Regional Battlegrounds – Mapping 2026 Realignments</a:t>
            </a:r>
          </a:p>
        </p:txBody>
      </p:sp>
      <p:sp>
        <p:nvSpPr>
          <p:cNvPr id="9" name="Google Shape;1669;p16">
            <a:extLst>
              <a:ext uri="{FF2B5EF4-FFF2-40B4-BE49-F238E27FC236}">
                <a16:creationId xmlns:a16="http://schemas.microsoft.com/office/drawing/2014/main" id="{40F44C32-BE56-1D90-10DE-1D5352FB7919}"/>
              </a:ext>
            </a:extLst>
          </p:cNvPr>
          <p:cNvSpPr txBox="1"/>
          <p:nvPr/>
        </p:nvSpPr>
        <p:spPr>
          <a:xfrm>
            <a:off x="1583828" y="1279555"/>
            <a:ext cx="341793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2021 Regional Seat Distribution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" name="Google Shape;1669;p16">
            <a:extLst>
              <a:ext uri="{FF2B5EF4-FFF2-40B4-BE49-F238E27FC236}">
                <a16:creationId xmlns:a16="http://schemas.microsoft.com/office/drawing/2014/main" id="{4E813180-1529-882F-E91C-06EB9774CE9E}"/>
              </a:ext>
            </a:extLst>
          </p:cNvPr>
          <p:cNvSpPr txBox="1"/>
          <p:nvPr/>
        </p:nvSpPr>
        <p:spPr>
          <a:xfrm>
            <a:off x="5817900" y="1293553"/>
            <a:ext cx="32908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000000"/>
              </a:buClr>
              <a:buSzPts val="1400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 Regional Seat Distribution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1" name="Google Shape;1481;p14"/>
          <p:cNvSpPr/>
          <p:nvPr/>
        </p:nvSpPr>
        <p:spPr>
          <a:xfrm>
            <a:off x="9207781" y="1670631"/>
            <a:ext cx="2594509" cy="114746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Most Competitive</a:t>
            </a:r>
            <a:r>
              <a:rPr lang="en-US" sz="1600" b="1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– </a:t>
            </a:r>
            <a:r>
              <a:rPr lang="en-US" sz="1600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Three-way splits evenly distribute vote power </a:t>
            </a:r>
            <a:endParaRPr sz="16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2" name="Google Shape;1482;p14">
            <a:extLst>
              <a:ext uri="{FF2B5EF4-FFF2-40B4-BE49-F238E27FC236}">
                <a16:creationId xmlns:a16="http://schemas.microsoft.com/office/drawing/2014/main" id="{08DE4761-4E04-D239-97E3-EAB191692CBC}"/>
              </a:ext>
            </a:extLst>
          </p:cNvPr>
          <p:cNvCxnSpPr>
            <a:cxnSpLocks/>
          </p:cNvCxnSpPr>
          <p:nvPr/>
        </p:nvCxnSpPr>
        <p:spPr>
          <a:xfrm>
            <a:off x="8540317" y="2095500"/>
            <a:ext cx="667464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76" name="Google Shape;1482;p14">
            <a:extLst>
              <a:ext uri="{FF2B5EF4-FFF2-40B4-BE49-F238E27FC236}">
                <a16:creationId xmlns:a16="http://schemas.microsoft.com/office/drawing/2014/main" id="{A19BE4E7-E2E7-A7F4-5B96-5D7287C35860}"/>
              </a:ext>
            </a:extLst>
          </p:cNvPr>
          <p:cNvCxnSpPr>
            <a:cxnSpLocks/>
          </p:cNvCxnSpPr>
          <p:nvPr/>
        </p:nvCxnSpPr>
        <p:spPr>
          <a:xfrm flipV="1">
            <a:off x="10045373" y="3809614"/>
            <a:ext cx="0" cy="22898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78" name="Google Shape;1481;p14">
            <a:extLst>
              <a:ext uri="{FF2B5EF4-FFF2-40B4-BE49-F238E27FC236}">
                <a16:creationId xmlns:a16="http://schemas.microsoft.com/office/drawing/2014/main" id="{3230FCC7-E025-A525-4839-44A047C4ABFA}"/>
              </a:ext>
            </a:extLst>
          </p:cNvPr>
          <p:cNvSpPr/>
          <p:nvPr/>
        </p:nvSpPr>
        <p:spPr>
          <a:xfrm>
            <a:off x="9207781" y="2974030"/>
            <a:ext cx="2594509" cy="114746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biggest shift </a:t>
            </a:r>
            <a:r>
              <a:rPr lang="en-US" sz="1600" b="1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– </a:t>
            </a:r>
            <a:r>
              <a:rPr lang="en-US" sz="1600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delta between 2021 and 2026 is most extreme</a:t>
            </a:r>
            <a:endParaRPr sz="16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2" name="Google Shape;1482;p14">
            <a:extLst>
              <a:ext uri="{FF2B5EF4-FFF2-40B4-BE49-F238E27FC236}">
                <a16:creationId xmlns:a16="http://schemas.microsoft.com/office/drawing/2014/main" id="{70BA786A-EC78-798E-CB99-B6BCF8E6E44B}"/>
              </a:ext>
            </a:extLst>
          </p:cNvPr>
          <p:cNvCxnSpPr>
            <a:cxnSpLocks/>
          </p:cNvCxnSpPr>
          <p:nvPr/>
        </p:nvCxnSpPr>
        <p:spPr>
          <a:xfrm>
            <a:off x="8583974" y="2568916"/>
            <a:ext cx="388576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0" name="Google Shape;1482;p14">
            <a:extLst>
              <a:ext uri="{FF2B5EF4-FFF2-40B4-BE49-F238E27FC236}">
                <a16:creationId xmlns:a16="http://schemas.microsoft.com/office/drawing/2014/main" id="{4D0F9D53-1B13-7171-794D-7AD792CEAFDA}"/>
              </a:ext>
            </a:extLst>
          </p:cNvPr>
          <p:cNvCxnSpPr>
            <a:cxnSpLocks/>
          </p:cNvCxnSpPr>
          <p:nvPr/>
        </p:nvCxnSpPr>
        <p:spPr>
          <a:xfrm flipH="1">
            <a:off x="8964974" y="2568916"/>
            <a:ext cx="7576" cy="97884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4" name="Google Shape;1482;p14">
            <a:extLst>
              <a:ext uri="{FF2B5EF4-FFF2-40B4-BE49-F238E27FC236}">
                <a16:creationId xmlns:a16="http://schemas.microsoft.com/office/drawing/2014/main" id="{71E9B367-A4BF-E234-AA1F-9B809867A9E2}"/>
              </a:ext>
            </a:extLst>
          </p:cNvPr>
          <p:cNvCxnSpPr>
            <a:cxnSpLocks/>
            <a:endCxn id="1478" idx="1"/>
          </p:cNvCxnSpPr>
          <p:nvPr/>
        </p:nvCxnSpPr>
        <p:spPr>
          <a:xfrm>
            <a:off x="8972550" y="3547760"/>
            <a:ext cx="235231" cy="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499" name="Google Shape;1658;p16">
            <a:extLst>
              <a:ext uri="{FF2B5EF4-FFF2-40B4-BE49-F238E27FC236}">
                <a16:creationId xmlns:a16="http://schemas.microsoft.com/office/drawing/2014/main" id="{E65F5DFB-5E2F-EC1E-37FF-1D3F248D246D}"/>
              </a:ext>
            </a:extLst>
          </p:cNvPr>
          <p:cNvGrpSpPr/>
          <p:nvPr/>
        </p:nvGrpSpPr>
        <p:grpSpPr>
          <a:xfrm>
            <a:off x="336896" y="5681431"/>
            <a:ext cx="11465394" cy="1068833"/>
            <a:chOff x="2296574" y="1498733"/>
            <a:chExt cx="4572048" cy="1039387"/>
          </a:xfrm>
        </p:grpSpPr>
        <p:sp>
          <p:nvSpPr>
            <p:cNvPr id="1500" name="Google Shape;1659;p16">
              <a:extLst>
                <a:ext uri="{FF2B5EF4-FFF2-40B4-BE49-F238E27FC236}">
                  <a16:creationId xmlns:a16="http://schemas.microsoft.com/office/drawing/2014/main" id="{B0AD1607-D14E-D643-1D4A-41ADA98D037E}"/>
                </a:ext>
              </a:extLst>
            </p:cNvPr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1501" name="Google Shape;1660;p16">
              <a:extLst>
                <a:ext uri="{FF2B5EF4-FFF2-40B4-BE49-F238E27FC236}">
                  <a16:creationId xmlns:a16="http://schemas.microsoft.com/office/drawing/2014/main" id="{D350FE70-7F0C-3160-7E0E-D4C297EEEC8E}"/>
                </a:ext>
              </a:extLst>
            </p:cNvPr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504" name="Google Shape;1665;p16">
            <a:extLst>
              <a:ext uri="{FF2B5EF4-FFF2-40B4-BE49-F238E27FC236}">
                <a16:creationId xmlns:a16="http://schemas.microsoft.com/office/drawing/2014/main" id="{5C6B76FA-7736-3D25-D443-C1ECF6942863}"/>
              </a:ext>
            </a:extLst>
          </p:cNvPr>
          <p:cNvGrpSpPr/>
          <p:nvPr/>
        </p:nvGrpSpPr>
        <p:grpSpPr>
          <a:xfrm>
            <a:off x="11468618" y="5851920"/>
            <a:ext cx="667334" cy="667333"/>
            <a:chOff x="1691842" y="2809946"/>
            <a:chExt cx="607731" cy="607731"/>
          </a:xfrm>
        </p:grpSpPr>
        <p:sp>
          <p:nvSpPr>
            <p:cNvPr id="1505" name="Google Shape;1666;p16">
              <a:extLst>
                <a:ext uri="{FF2B5EF4-FFF2-40B4-BE49-F238E27FC236}">
                  <a16:creationId xmlns:a16="http://schemas.microsoft.com/office/drawing/2014/main" id="{ABE0D3E4-BAC7-3B79-3899-5D4170CBBF90}"/>
                </a:ext>
              </a:extLst>
            </p:cNvPr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06" name="Google Shape;1667;p16">
              <a:extLst>
                <a:ext uri="{FF2B5EF4-FFF2-40B4-BE49-F238E27FC236}">
                  <a16:creationId xmlns:a16="http://schemas.microsoft.com/office/drawing/2014/main" id="{63A4A638-8B55-DD44-E4C4-5FB590CD6DD2}"/>
                </a:ext>
              </a:extLst>
            </p:cNvPr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507" name="Google Shape;1668;p16">
            <a:extLst>
              <a:ext uri="{FF2B5EF4-FFF2-40B4-BE49-F238E27FC236}">
                <a16:creationId xmlns:a16="http://schemas.microsoft.com/office/drawing/2014/main" id="{C3BE70E0-B303-F3AA-3B05-B38220172CE5}"/>
              </a:ext>
            </a:extLst>
          </p:cNvPr>
          <p:cNvSpPr txBox="1"/>
          <p:nvPr/>
        </p:nvSpPr>
        <p:spPr>
          <a:xfrm>
            <a:off x="525799" y="6162662"/>
            <a:ext cx="1114040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500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Utilize regional data comparisons to provide geographic context for the shifting seat distribution across alliances</a:t>
            </a:r>
          </a:p>
          <a:p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regional view leads into a deeper look at where established strongholds began to erode</a:t>
            </a:r>
            <a:endParaRPr sz="1500" b="0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08" name="Google Shape;1669;p16">
            <a:extLst>
              <a:ext uri="{FF2B5EF4-FFF2-40B4-BE49-F238E27FC236}">
                <a16:creationId xmlns:a16="http://schemas.microsoft.com/office/drawing/2014/main" id="{0064CBA5-F5DA-3446-E067-C5EC06236B86}"/>
              </a:ext>
            </a:extLst>
          </p:cNvPr>
          <p:cNvSpPr txBox="1"/>
          <p:nvPr/>
        </p:nvSpPr>
        <p:spPr>
          <a:xfrm>
            <a:off x="488887" y="5840176"/>
            <a:ext cx="338304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Editorial Recommendation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12" name="TextBox 1511">
            <a:extLst>
              <a:ext uri="{FF2B5EF4-FFF2-40B4-BE49-F238E27FC236}">
                <a16:creationId xmlns:a16="http://schemas.microsoft.com/office/drawing/2014/main" id="{065140AD-402E-71F3-D821-23240ED0F93A}"/>
              </a:ext>
            </a:extLst>
          </p:cNvPr>
          <p:cNvSpPr txBox="1"/>
          <p:nvPr/>
        </p:nvSpPr>
        <p:spPr>
          <a:xfrm>
            <a:off x="389710" y="56829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Old English Text MT" panose="03040902040508030806" pitchFamily="66" charset="0"/>
              </a:rPr>
              <a:t>Atliq</a:t>
            </a:r>
            <a:r>
              <a:rPr lang="en-US" dirty="0">
                <a:latin typeface="Old English Text MT" panose="03040902040508030806" pitchFamily="66" charset="0"/>
              </a:rPr>
              <a:t> Media</a:t>
            </a:r>
          </a:p>
        </p:txBody>
      </p:sp>
      <p:cxnSp>
        <p:nvCxnSpPr>
          <p:cNvPr id="1513" name="Straight Connector 1512">
            <a:extLst>
              <a:ext uri="{FF2B5EF4-FFF2-40B4-BE49-F238E27FC236}">
                <a16:creationId xmlns:a16="http://schemas.microsoft.com/office/drawing/2014/main" id="{83774169-0AA6-9BEA-9B23-08A1FBD4BEDA}"/>
              </a:ext>
            </a:extLst>
          </p:cNvPr>
          <p:cNvCxnSpPr>
            <a:cxnSpLocks/>
          </p:cNvCxnSpPr>
          <p:nvPr/>
        </p:nvCxnSpPr>
        <p:spPr>
          <a:xfrm>
            <a:off x="1688627" y="241495"/>
            <a:ext cx="10113658" cy="0"/>
          </a:xfrm>
          <a:prstGeom prst="line">
            <a:avLst/>
          </a:prstGeom>
          <a:ln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7911445-2BD4-BF81-9837-E54C40F8C228}"/>
              </a:ext>
            </a:extLst>
          </p:cNvPr>
          <p:cNvSpPr/>
          <p:nvPr/>
        </p:nvSpPr>
        <p:spPr>
          <a:xfrm>
            <a:off x="8964974" y="5167249"/>
            <a:ext cx="3084478" cy="384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576EE3-DD4D-8523-2D05-A3FB0F202CBB}"/>
              </a:ext>
            </a:extLst>
          </p:cNvPr>
          <p:cNvSpPr/>
          <p:nvPr/>
        </p:nvSpPr>
        <p:spPr>
          <a:xfrm>
            <a:off x="9042281" y="5229860"/>
            <a:ext cx="250166" cy="241540"/>
          </a:xfrm>
          <a:prstGeom prst="ellipse">
            <a:avLst/>
          </a:prstGeom>
          <a:solidFill>
            <a:srgbClr val="5B6CFF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177324-255E-40A1-F6DA-667151307B3A}"/>
              </a:ext>
            </a:extLst>
          </p:cNvPr>
          <p:cNvSpPr/>
          <p:nvPr/>
        </p:nvSpPr>
        <p:spPr>
          <a:xfrm>
            <a:off x="9883798" y="5216758"/>
            <a:ext cx="250166" cy="241540"/>
          </a:xfrm>
          <a:prstGeom prst="ellipse">
            <a:avLst/>
          </a:prstGeom>
          <a:solidFill>
            <a:srgbClr val="4E8D7C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1D38E4-EF95-7590-7F5F-7849C3D336EA}"/>
              </a:ext>
            </a:extLst>
          </p:cNvPr>
          <p:cNvSpPr/>
          <p:nvPr/>
        </p:nvSpPr>
        <p:spPr>
          <a:xfrm>
            <a:off x="11065379" y="5216758"/>
            <a:ext cx="250166" cy="241540"/>
          </a:xfrm>
          <a:prstGeom prst="ellipse">
            <a:avLst/>
          </a:prstGeom>
          <a:solidFill>
            <a:srgbClr val="B7794B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092E3-320D-F42D-5A3C-6DD40A309ADC}"/>
              </a:ext>
            </a:extLst>
          </p:cNvPr>
          <p:cNvSpPr txBox="1"/>
          <p:nvPr/>
        </p:nvSpPr>
        <p:spPr>
          <a:xfrm>
            <a:off x="9240101" y="5175945"/>
            <a:ext cx="6645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DMK+</a:t>
            </a:r>
            <a:endParaRPr lang="en-IN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9927F-B8C1-B3E8-4545-1F21F634FD5A}"/>
              </a:ext>
            </a:extLst>
          </p:cNvPr>
          <p:cNvSpPr txBox="1"/>
          <p:nvPr/>
        </p:nvSpPr>
        <p:spPr>
          <a:xfrm>
            <a:off x="10116712" y="5175946"/>
            <a:ext cx="9486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AIADMK+</a:t>
            </a:r>
            <a:endParaRPr lang="en-IN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48B64-430A-3A01-85C9-18CE018159CE}"/>
              </a:ext>
            </a:extLst>
          </p:cNvPr>
          <p:cNvSpPr txBox="1"/>
          <p:nvPr/>
        </p:nvSpPr>
        <p:spPr>
          <a:xfrm>
            <a:off x="11301697" y="5167248"/>
            <a:ext cx="6645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TVK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57099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EE958-5FFD-F88F-3EFC-D14F7624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EDC58B-3DA5-C4DC-0672-5B606F5B2CBF}"/>
              </a:ext>
            </a:extLst>
          </p:cNvPr>
          <p:cNvSpPr txBox="1"/>
          <p:nvPr/>
        </p:nvSpPr>
        <p:spPr>
          <a:xfrm>
            <a:off x="389710" y="428993"/>
            <a:ext cx="7934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Rockwell Condensed" panose="02060603050405020104" pitchFamily="18" charset="0"/>
              </a:rPr>
              <a:t>Regional Seat Erosion in Strongholds</a:t>
            </a:r>
          </a:p>
        </p:txBody>
      </p:sp>
      <p:sp>
        <p:nvSpPr>
          <p:cNvPr id="1512" name="TextBox 1511">
            <a:extLst>
              <a:ext uri="{FF2B5EF4-FFF2-40B4-BE49-F238E27FC236}">
                <a16:creationId xmlns:a16="http://schemas.microsoft.com/office/drawing/2014/main" id="{EF32BFF8-93CC-B3B0-91F7-2CB78D8AC142}"/>
              </a:ext>
            </a:extLst>
          </p:cNvPr>
          <p:cNvSpPr txBox="1"/>
          <p:nvPr/>
        </p:nvSpPr>
        <p:spPr>
          <a:xfrm>
            <a:off x="389710" y="56829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Old English Text MT" panose="03040902040508030806" pitchFamily="66" charset="0"/>
              </a:rPr>
              <a:t>Atliq</a:t>
            </a:r>
            <a:r>
              <a:rPr lang="en-US" dirty="0">
                <a:latin typeface="Old English Text MT" panose="03040902040508030806" pitchFamily="66" charset="0"/>
              </a:rPr>
              <a:t> Media</a:t>
            </a:r>
          </a:p>
        </p:txBody>
      </p:sp>
      <p:cxnSp>
        <p:nvCxnSpPr>
          <p:cNvPr id="1513" name="Straight Connector 1512">
            <a:extLst>
              <a:ext uri="{FF2B5EF4-FFF2-40B4-BE49-F238E27FC236}">
                <a16:creationId xmlns:a16="http://schemas.microsoft.com/office/drawing/2014/main" id="{57E65621-F4C7-B5B8-B557-613BA48C09AE}"/>
              </a:ext>
            </a:extLst>
          </p:cNvPr>
          <p:cNvCxnSpPr>
            <a:cxnSpLocks/>
          </p:cNvCxnSpPr>
          <p:nvPr/>
        </p:nvCxnSpPr>
        <p:spPr>
          <a:xfrm>
            <a:off x="1688627" y="241495"/>
            <a:ext cx="10113658" cy="0"/>
          </a:xfrm>
          <a:prstGeom prst="line">
            <a:avLst/>
          </a:prstGeom>
          <a:ln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36BF4A5-2259-001E-021F-00DC3482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177" y="1259230"/>
            <a:ext cx="5311374" cy="27861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30C5D5-B51B-466B-793E-373AFB76D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71" y="1259232"/>
            <a:ext cx="5736170" cy="2786140"/>
          </a:xfrm>
          <a:prstGeom prst="rect">
            <a:avLst/>
          </a:prstGeom>
        </p:spPr>
      </p:pic>
      <p:sp>
        <p:nvSpPr>
          <p:cNvPr id="15" name="Google Shape;1481;p14">
            <a:extLst>
              <a:ext uri="{FF2B5EF4-FFF2-40B4-BE49-F238E27FC236}">
                <a16:creationId xmlns:a16="http://schemas.microsoft.com/office/drawing/2014/main" id="{3B4C04F4-ABAA-90EC-3A79-BF989594CF5A}"/>
              </a:ext>
            </a:extLst>
          </p:cNvPr>
          <p:cNvSpPr/>
          <p:nvPr/>
        </p:nvSpPr>
        <p:spPr>
          <a:xfrm>
            <a:off x="2918666" y="1089362"/>
            <a:ext cx="1158034" cy="301059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DMK+ </a:t>
            </a:r>
            <a:endParaRPr sz="16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481;p14">
            <a:extLst>
              <a:ext uri="{FF2B5EF4-FFF2-40B4-BE49-F238E27FC236}">
                <a16:creationId xmlns:a16="http://schemas.microsoft.com/office/drawing/2014/main" id="{49C93A7E-AAD9-8D63-50E6-445F2E42F62C}"/>
              </a:ext>
            </a:extLst>
          </p:cNvPr>
          <p:cNvSpPr/>
          <p:nvPr/>
        </p:nvSpPr>
        <p:spPr>
          <a:xfrm>
            <a:off x="8533533" y="1108703"/>
            <a:ext cx="1158034" cy="301059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AIADMK+</a:t>
            </a:r>
            <a:endParaRPr sz="16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1D8717-925A-3A88-1561-AD0D0101CB24}"/>
              </a:ext>
            </a:extLst>
          </p:cNvPr>
          <p:cNvSpPr txBox="1"/>
          <p:nvPr/>
        </p:nvSpPr>
        <p:spPr>
          <a:xfrm>
            <a:off x="2463305" y="1750170"/>
            <a:ext cx="25745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FF0000"/>
                </a:solidFill>
                <a:effectLst/>
                <a:latin typeface="Google Sans Text"/>
              </a:rPr>
              <a:t>Dropped from 32 to 2 seats in 2026 </a:t>
            </a:r>
            <a:endParaRPr lang="en-IN" sz="110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A5E485-D94E-9A75-90A7-495D08C62E73}"/>
              </a:ext>
            </a:extLst>
          </p:cNvPr>
          <p:cNvSpPr txBox="1"/>
          <p:nvPr/>
        </p:nvSpPr>
        <p:spPr>
          <a:xfrm>
            <a:off x="8854631" y="2074511"/>
            <a:ext cx="19744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FF0000"/>
                </a:solidFill>
                <a:effectLst/>
                <a:latin typeface="Google Sans Text"/>
              </a:rPr>
              <a:t>Dropped from 21 to 8 seats </a:t>
            </a:r>
            <a:endParaRPr lang="en-IN" sz="1100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C5A6FF-36A9-2E14-B7FB-13C9CB1A24D9}"/>
              </a:ext>
            </a:extLst>
          </p:cNvPr>
          <p:cNvSpPr txBox="1"/>
          <p:nvPr/>
        </p:nvSpPr>
        <p:spPr>
          <a:xfrm>
            <a:off x="389709" y="4112733"/>
            <a:ext cx="79343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Rockwell Condensed" panose="02060603050405020104" pitchFamily="18" charset="0"/>
              </a:rPr>
              <a:t>TVK’s Emergence in 2026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E62F7A7-5E65-5149-A9C6-E4F61CE54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800" y="4700340"/>
            <a:ext cx="4044881" cy="2281343"/>
          </a:xfrm>
          <a:prstGeom prst="rect">
            <a:avLst/>
          </a:prstGeom>
        </p:spPr>
      </p:pic>
      <p:grpSp>
        <p:nvGrpSpPr>
          <p:cNvPr id="36" name="Google Shape;1658;p16">
            <a:extLst>
              <a:ext uri="{FF2B5EF4-FFF2-40B4-BE49-F238E27FC236}">
                <a16:creationId xmlns:a16="http://schemas.microsoft.com/office/drawing/2014/main" id="{7B17E881-B776-0B51-E3BC-E29133D9F063}"/>
              </a:ext>
            </a:extLst>
          </p:cNvPr>
          <p:cNvGrpSpPr/>
          <p:nvPr/>
        </p:nvGrpSpPr>
        <p:grpSpPr>
          <a:xfrm>
            <a:off x="6592565" y="4279965"/>
            <a:ext cx="5311374" cy="2499933"/>
            <a:chOff x="2296574" y="1498733"/>
            <a:chExt cx="4572048" cy="1039387"/>
          </a:xfrm>
        </p:grpSpPr>
        <p:sp>
          <p:nvSpPr>
            <p:cNvPr id="37" name="Google Shape;1659;p16">
              <a:extLst>
                <a:ext uri="{FF2B5EF4-FFF2-40B4-BE49-F238E27FC236}">
                  <a16:creationId xmlns:a16="http://schemas.microsoft.com/office/drawing/2014/main" id="{393DC487-3513-0D9D-595B-B97280686D8C}"/>
                </a:ext>
              </a:extLst>
            </p:cNvPr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38" name="Google Shape;1660;p16">
              <a:extLst>
                <a:ext uri="{FF2B5EF4-FFF2-40B4-BE49-F238E27FC236}">
                  <a16:creationId xmlns:a16="http://schemas.microsoft.com/office/drawing/2014/main" id="{2BB5F53A-D956-FE15-D665-8BBA9D236A1D}"/>
                </a:ext>
              </a:extLst>
            </p:cNvPr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9" name="Google Shape;1661;p16">
            <a:extLst>
              <a:ext uri="{FF2B5EF4-FFF2-40B4-BE49-F238E27FC236}">
                <a16:creationId xmlns:a16="http://schemas.microsoft.com/office/drawing/2014/main" id="{F8A583BB-B8F3-D043-0BE1-10FCC3DE4DE6}"/>
              </a:ext>
            </a:extLst>
          </p:cNvPr>
          <p:cNvSpPr/>
          <p:nvPr/>
        </p:nvSpPr>
        <p:spPr>
          <a:xfrm rot="5400000">
            <a:off x="6666871" y="4600594"/>
            <a:ext cx="330712" cy="470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0D6E6">
              <a:alpha val="5137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1663;p16">
            <a:extLst>
              <a:ext uri="{FF2B5EF4-FFF2-40B4-BE49-F238E27FC236}">
                <a16:creationId xmlns:a16="http://schemas.microsoft.com/office/drawing/2014/main" id="{1F9104C1-7DE6-397D-70A6-87349469BE03}"/>
              </a:ext>
            </a:extLst>
          </p:cNvPr>
          <p:cNvSpPr/>
          <p:nvPr/>
        </p:nvSpPr>
        <p:spPr>
          <a:xfrm rot="10800000" flipH="1">
            <a:off x="6794939" y="4745593"/>
            <a:ext cx="180722" cy="1807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41" name="Google Shape;1665;p16">
            <a:extLst>
              <a:ext uri="{FF2B5EF4-FFF2-40B4-BE49-F238E27FC236}">
                <a16:creationId xmlns:a16="http://schemas.microsoft.com/office/drawing/2014/main" id="{1CFE633C-34D8-4C8F-03F9-4EC7E9D40F4F}"/>
              </a:ext>
            </a:extLst>
          </p:cNvPr>
          <p:cNvGrpSpPr/>
          <p:nvPr/>
        </p:nvGrpSpPr>
        <p:grpSpPr>
          <a:xfrm>
            <a:off x="11515321" y="5173678"/>
            <a:ext cx="667334" cy="667333"/>
            <a:chOff x="1691842" y="2809946"/>
            <a:chExt cx="607731" cy="607731"/>
          </a:xfrm>
        </p:grpSpPr>
        <p:sp>
          <p:nvSpPr>
            <p:cNvPr id="42" name="Google Shape;1666;p16">
              <a:extLst>
                <a:ext uri="{FF2B5EF4-FFF2-40B4-BE49-F238E27FC236}">
                  <a16:creationId xmlns:a16="http://schemas.microsoft.com/office/drawing/2014/main" id="{8546441B-90B6-DF4E-BD14-4227DDA64CE6}"/>
                </a:ext>
              </a:extLst>
            </p:cNvPr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" name="Google Shape;1667;p16">
              <a:extLst>
                <a:ext uri="{FF2B5EF4-FFF2-40B4-BE49-F238E27FC236}">
                  <a16:creationId xmlns:a16="http://schemas.microsoft.com/office/drawing/2014/main" id="{B8D64D00-1ADF-CEEF-A8CC-7F6299CEE8C2}"/>
                </a:ext>
              </a:extLst>
            </p:cNvPr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44" name="Google Shape;1668;p16">
            <a:extLst>
              <a:ext uri="{FF2B5EF4-FFF2-40B4-BE49-F238E27FC236}">
                <a16:creationId xmlns:a16="http://schemas.microsoft.com/office/drawing/2014/main" id="{B3C529C7-3129-AF62-778C-9A52A9893CC1}"/>
              </a:ext>
            </a:extLst>
          </p:cNvPr>
          <p:cNvSpPr txBox="1"/>
          <p:nvPr/>
        </p:nvSpPr>
        <p:spPr>
          <a:xfrm>
            <a:off x="7213369" y="5103865"/>
            <a:ext cx="4240458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Position significant seat erosions (</a:t>
            </a:r>
            <a:r>
              <a:rPr lang="en-US" sz="1500" dirty="0" err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e.g</a:t>
            </a:r>
            <a:r>
              <a:rPr lang="en-US" sz="1500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Chennai Metro) as the primary editorial hook for the broadcast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1500" b="0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 seeing where seats were lost, we will now look at exactly which parties those seats shifted toward</a:t>
            </a:r>
            <a:endParaRPr sz="1500" b="0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" name="Google Shape;1669;p16">
            <a:extLst>
              <a:ext uri="{FF2B5EF4-FFF2-40B4-BE49-F238E27FC236}">
                <a16:creationId xmlns:a16="http://schemas.microsoft.com/office/drawing/2014/main" id="{2C1D467A-CF7B-5DA4-09C2-5AB21042B203}"/>
              </a:ext>
            </a:extLst>
          </p:cNvPr>
          <p:cNvSpPr txBox="1"/>
          <p:nvPr/>
        </p:nvSpPr>
        <p:spPr>
          <a:xfrm>
            <a:off x="7213369" y="4726281"/>
            <a:ext cx="338304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Editorial Recommendation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6" name="Google Shape;1698;p16">
            <a:extLst>
              <a:ext uri="{FF2B5EF4-FFF2-40B4-BE49-F238E27FC236}">
                <a16:creationId xmlns:a16="http://schemas.microsoft.com/office/drawing/2014/main" id="{CE84C939-4628-5E9B-03B7-227C5E5B01C8}"/>
              </a:ext>
            </a:extLst>
          </p:cNvPr>
          <p:cNvCxnSpPr>
            <a:cxnSpLocks/>
          </p:cNvCxnSpPr>
          <p:nvPr/>
        </p:nvCxnSpPr>
        <p:spPr>
          <a:xfrm flipH="1">
            <a:off x="7213369" y="5001310"/>
            <a:ext cx="1009521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44DF021-7092-38B5-DBB4-409645484276}"/>
              </a:ext>
            </a:extLst>
          </p:cNvPr>
          <p:cNvSpPr/>
          <p:nvPr/>
        </p:nvSpPr>
        <p:spPr>
          <a:xfrm>
            <a:off x="10190975" y="799103"/>
            <a:ext cx="1754992" cy="384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DFB654F-44C4-ABFA-7475-1543571EAFBB}"/>
              </a:ext>
            </a:extLst>
          </p:cNvPr>
          <p:cNvSpPr/>
          <p:nvPr/>
        </p:nvSpPr>
        <p:spPr>
          <a:xfrm>
            <a:off x="10346249" y="892998"/>
            <a:ext cx="250166" cy="241540"/>
          </a:xfrm>
          <a:prstGeom prst="ellipse">
            <a:avLst/>
          </a:prstGeom>
          <a:solidFill>
            <a:srgbClr val="5B6CFF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CD963CF-AFA0-B6E9-A16C-7C49B69B6D59}"/>
              </a:ext>
            </a:extLst>
          </p:cNvPr>
          <p:cNvSpPr/>
          <p:nvPr/>
        </p:nvSpPr>
        <p:spPr>
          <a:xfrm>
            <a:off x="11151493" y="896439"/>
            <a:ext cx="250166" cy="241540"/>
          </a:xfrm>
          <a:prstGeom prst="ellipse">
            <a:avLst/>
          </a:prstGeom>
          <a:solidFill>
            <a:srgbClr val="D6DAE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DF072-AD48-8B11-E4C8-1453E2018AEC}"/>
              </a:ext>
            </a:extLst>
          </p:cNvPr>
          <p:cNvSpPr txBox="1"/>
          <p:nvPr/>
        </p:nvSpPr>
        <p:spPr>
          <a:xfrm>
            <a:off x="10561323" y="839084"/>
            <a:ext cx="8144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2026</a:t>
            </a:r>
            <a:endParaRPr lang="en-IN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08C5E-C6D8-03D4-31AC-C41EB099172A}"/>
              </a:ext>
            </a:extLst>
          </p:cNvPr>
          <p:cNvSpPr txBox="1"/>
          <p:nvPr/>
        </p:nvSpPr>
        <p:spPr>
          <a:xfrm>
            <a:off x="11401660" y="839083"/>
            <a:ext cx="590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2021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10582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DDEE3-2C1D-26DD-9712-4E528E076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D2F7E-D876-A575-6210-B789577407C6}"/>
              </a:ext>
            </a:extLst>
          </p:cNvPr>
          <p:cNvSpPr txBox="1"/>
          <p:nvPr/>
        </p:nvSpPr>
        <p:spPr>
          <a:xfrm>
            <a:off x="389710" y="428993"/>
            <a:ext cx="7934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Rockwell Condensed" panose="02060603050405020104" pitchFamily="18" charset="0"/>
              </a:rPr>
              <a:t>The Great Flip: Flow of Political Power</a:t>
            </a:r>
          </a:p>
        </p:txBody>
      </p:sp>
      <p:sp>
        <p:nvSpPr>
          <p:cNvPr id="1512" name="TextBox 1511">
            <a:extLst>
              <a:ext uri="{FF2B5EF4-FFF2-40B4-BE49-F238E27FC236}">
                <a16:creationId xmlns:a16="http://schemas.microsoft.com/office/drawing/2014/main" id="{C47778CE-D2DC-BC37-2650-94E38530EA15}"/>
              </a:ext>
            </a:extLst>
          </p:cNvPr>
          <p:cNvSpPr txBox="1"/>
          <p:nvPr/>
        </p:nvSpPr>
        <p:spPr>
          <a:xfrm>
            <a:off x="389710" y="56829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Old English Text MT" panose="03040902040508030806" pitchFamily="66" charset="0"/>
              </a:rPr>
              <a:t>Atliq</a:t>
            </a:r>
            <a:r>
              <a:rPr lang="en-US" dirty="0">
                <a:latin typeface="Old English Text MT" panose="03040902040508030806" pitchFamily="66" charset="0"/>
              </a:rPr>
              <a:t> Media</a:t>
            </a:r>
          </a:p>
        </p:txBody>
      </p:sp>
      <p:cxnSp>
        <p:nvCxnSpPr>
          <p:cNvPr id="1513" name="Straight Connector 1512">
            <a:extLst>
              <a:ext uri="{FF2B5EF4-FFF2-40B4-BE49-F238E27FC236}">
                <a16:creationId xmlns:a16="http://schemas.microsoft.com/office/drawing/2014/main" id="{75113A78-8691-1286-F2BC-709354402105}"/>
              </a:ext>
            </a:extLst>
          </p:cNvPr>
          <p:cNvCxnSpPr>
            <a:cxnSpLocks/>
          </p:cNvCxnSpPr>
          <p:nvPr/>
        </p:nvCxnSpPr>
        <p:spPr>
          <a:xfrm>
            <a:off x="1688627" y="241495"/>
            <a:ext cx="10113658" cy="0"/>
          </a:xfrm>
          <a:prstGeom prst="line">
            <a:avLst/>
          </a:prstGeom>
          <a:ln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43C89F9-750E-2D23-9FCA-88BED548F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371" y="1093666"/>
            <a:ext cx="8606301" cy="3790192"/>
          </a:xfrm>
          <a:prstGeom prst="rect">
            <a:avLst/>
          </a:prstGeom>
        </p:spPr>
      </p:pic>
      <p:sp>
        <p:nvSpPr>
          <p:cNvPr id="8" name="Google Shape;1481;p14">
            <a:extLst>
              <a:ext uri="{FF2B5EF4-FFF2-40B4-BE49-F238E27FC236}">
                <a16:creationId xmlns:a16="http://schemas.microsoft.com/office/drawing/2014/main" id="{1818D574-022E-E5E5-B71D-8CED45C80E34}"/>
              </a:ext>
            </a:extLst>
          </p:cNvPr>
          <p:cNvSpPr/>
          <p:nvPr/>
        </p:nvSpPr>
        <p:spPr>
          <a:xfrm rot="16200000">
            <a:off x="726488" y="2693781"/>
            <a:ext cx="1837678" cy="445071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2021 Winners</a:t>
            </a:r>
            <a:endParaRPr sz="16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481;p14">
            <a:extLst>
              <a:ext uri="{FF2B5EF4-FFF2-40B4-BE49-F238E27FC236}">
                <a16:creationId xmlns:a16="http://schemas.microsoft.com/office/drawing/2014/main" id="{1D031E5B-6DC4-F687-6887-92022B79A849}"/>
              </a:ext>
            </a:extLst>
          </p:cNvPr>
          <p:cNvSpPr/>
          <p:nvPr/>
        </p:nvSpPr>
        <p:spPr>
          <a:xfrm rot="5400000">
            <a:off x="9850370" y="2693781"/>
            <a:ext cx="1837678" cy="445071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 Winners</a:t>
            </a:r>
            <a:endParaRPr sz="16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11;p16">
            <a:extLst>
              <a:ext uri="{FF2B5EF4-FFF2-40B4-BE49-F238E27FC236}">
                <a16:creationId xmlns:a16="http://schemas.microsoft.com/office/drawing/2014/main" id="{D915BEE7-09D0-4E0B-8821-5E75A1F4666F}"/>
              </a:ext>
            </a:extLst>
          </p:cNvPr>
          <p:cNvSpPr txBox="1"/>
          <p:nvPr/>
        </p:nvSpPr>
        <p:spPr>
          <a:xfrm>
            <a:off x="4609257" y="1296506"/>
            <a:ext cx="568943" cy="293946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Fira Sans Extra Condensed"/>
              </a:rPr>
              <a:t>28</a:t>
            </a:r>
            <a:endParaRPr sz="1600" b="1" dirty="0">
              <a:solidFill>
                <a:schemeClr val="lt1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Fira Sans Extra Condensed"/>
            </a:endParaRPr>
          </a:p>
        </p:txBody>
      </p:sp>
      <p:sp>
        <p:nvSpPr>
          <p:cNvPr id="13" name="Google Shape;211;p16">
            <a:extLst>
              <a:ext uri="{FF2B5EF4-FFF2-40B4-BE49-F238E27FC236}">
                <a16:creationId xmlns:a16="http://schemas.microsoft.com/office/drawing/2014/main" id="{DBA64EE4-B469-ECEA-A1A0-203F14C47E9E}"/>
              </a:ext>
            </a:extLst>
          </p:cNvPr>
          <p:cNvSpPr txBox="1"/>
          <p:nvPr/>
        </p:nvSpPr>
        <p:spPr>
          <a:xfrm>
            <a:off x="4609257" y="1973457"/>
            <a:ext cx="568943" cy="293946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lvl="0" indent="0" algn="ctr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l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" dirty="0">
                <a:sym typeface="Fira Sans Extra Condensed"/>
              </a:rPr>
              <a:t>53</a:t>
            </a:r>
            <a:endParaRPr dirty="0">
              <a:sym typeface="Fira Sans Extra Condensed"/>
            </a:endParaRPr>
          </a:p>
        </p:txBody>
      </p:sp>
      <p:sp>
        <p:nvSpPr>
          <p:cNvPr id="14" name="Google Shape;211;p16">
            <a:extLst>
              <a:ext uri="{FF2B5EF4-FFF2-40B4-BE49-F238E27FC236}">
                <a16:creationId xmlns:a16="http://schemas.microsoft.com/office/drawing/2014/main" id="{B67AA01E-303F-9421-118C-2BE050B176C2}"/>
              </a:ext>
            </a:extLst>
          </p:cNvPr>
          <p:cNvSpPr txBox="1"/>
          <p:nvPr/>
        </p:nvSpPr>
        <p:spPr>
          <a:xfrm>
            <a:off x="4609256" y="2694816"/>
            <a:ext cx="568943" cy="293946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lvl="0" indent="0" algn="ctr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l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" dirty="0">
                <a:sym typeface="Fira Sans Extra Condensed"/>
              </a:rPr>
              <a:t>78</a:t>
            </a:r>
            <a:endParaRPr dirty="0">
              <a:sym typeface="Fira Sans Extra Condensed"/>
            </a:endParaRPr>
          </a:p>
        </p:txBody>
      </p:sp>
      <p:sp>
        <p:nvSpPr>
          <p:cNvPr id="17" name="Google Shape;211;p16">
            <a:extLst>
              <a:ext uri="{FF2B5EF4-FFF2-40B4-BE49-F238E27FC236}">
                <a16:creationId xmlns:a16="http://schemas.microsoft.com/office/drawing/2014/main" id="{436939EA-9058-A84C-6774-EC05B5EBD92D}"/>
              </a:ext>
            </a:extLst>
          </p:cNvPr>
          <p:cNvSpPr txBox="1"/>
          <p:nvPr/>
        </p:nvSpPr>
        <p:spPr>
          <a:xfrm>
            <a:off x="8604209" y="1790972"/>
            <a:ext cx="568943" cy="293946"/>
          </a:xfrm>
          <a:prstGeom prst="rect">
            <a:avLst/>
          </a:prstGeom>
          <a:solidFill>
            <a:srgbClr val="4E8D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lvl="0" indent="0" algn="ctr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l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" dirty="0">
                <a:sym typeface="Fira Sans Extra Condensed"/>
              </a:rPr>
              <a:t>25</a:t>
            </a:r>
            <a:endParaRPr dirty="0">
              <a:sym typeface="Fira Sans Extra Condensed"/>
            </a:endParaRPr>
          </a:p>
        </p:txBody>
      </p:sp>
      <p:sp>
        <p:nvSpPr>
          <p:cNvPr id="18" name="Google Shape;211;p16">
            <a:extLst>
              <a:ext uri="{FF2B5EF4-FFF2-40B4-BE49-F238E27FC236}">
                <a16:creationId xmlns:a16="http://schemas.microsoft.com/office/drawing/2014/main" id="{EBDD89CF-2B18-971A-7F52-D92C17F56020}"/>
              </a:ext>
            </a:extLst>
          </p:cNvPr>
          <p:cNvSpPr txBox="1"/>
          <p:nvPr/>
        </p:nvSpPr>
        <p:spPr>
          <a:xfrm>
            <a:off x="8604209" y="2916316"/>
            <a:ext cx="568943" cy="293946"/>
          </a:xfrm>
          <a:prstGeom prst="rect">
            <a:avLst/>
          </a:prstGeom>
          <a:solidFill>
            <a:srgbClr val="4E8D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lvl="0" indent="0" algn="ctr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l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" dirty="0">
                <a:sym typeface="Fira Sans Extra Condensed"/>
              </a:rPr>
              <a:t>20</a:t>
            </a:r>
            <a:endParaRPr dirty="0">
              <a:sym typeface="Fira Sans Extra Condensed"/>
            </a:endParaRPr>
          </a:p>
        </p:txBody>
      </p:sp>
      <p:sp>
        <p:nvSpPr>
          <p:cNvPr id="19" name="Google Shape;211;p16">
            <a:extLst>
              <a:ext uri="{FF2B5EF4-FFF2-40B4-BE49-F238E27FC236}">
                <a16:creationId xmlns:a16="http://schemas.microsoft.com/office/drawing/2014/main" id="{FFDBDD2A-E987-08F0-615B-AB80A13AC5B5}"/>
              </a:ext>
            </a:extLst>
          </p:cNvPr>
          <p:cNvSpPr txBox="1"/>
          <p:nvPr/>
        </p:nvSpPr>
        <p:spPr>
          <a:xfrm>
            <a:off x="8604209" y="4375854"/>
            <a:ext cx="568943" cy="293946"/>
          </a:xfrm>
          <a:prstGeom prst="rect">
            <a:avLst/>
          </a:prstGeom>
          <a:solidFill>
            <a:srgbClr val="4E8D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lvl="0" indent="0" algn="ctr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l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" dirty="0">
                <a:sym typeface="Fira Sans Extra Condensed"/>
              </a:rPr>
              <a:t>30</a:t>
            </a:r>
            <a:endParaRPr dirty="0">
              <a:sym typeface="Fira Sans Extra Condense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7A957-7765-FECA-8C29-C18F90FE776C}"/>
              </a:ext>
            </a:extLst>
          </p:cNvPr>
          <p:cNvSpPr txBox="1"/>
          <p:nvPr/>
        </p:nvSpPr>
        <p:spPr>
          <a:xfrm>
            <a:off x="1940371" y="4997364"/>
            <a:ext cx="8384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 large-scale redistribution occurred as seats previously held by DMK+ and AIADMK+ shifted toward TVK</a:t>
            </a:r>
          </a:p>
          <a:p>
            <a:r>
              <a:rPr lang="en-US" sz="1400" dirty="0"/>
              <a:t>This flow of power indicates that the 2026 verdict was not just a marginal change but a major realignment</a:t>
            </a:r>
            <a:endParaRPr lang="en-IN" sz="1400" dirty="0"/>
          </a:p>
        </p:txBody>
      </p:sp>
      <p:grpSp>
        <p:nvGrpSpPr>
          <p:cNvPr id="23" name="Google Shape;1658;p16">
            <a:extLst>
              <a:ext uri="{FF2B5EF4-FFF2-40B4-BE49-F238E27FC236}">
                <a16:creationId xmlns:a16="http://schemas.microsoft.com/office/drawing/2014/main" id="{6DF0FF6D-1AEB-0689-3289-FAC683CF13F9}"/>
              </a:ext>
            </a:extLst>
          </p:cNvPr>
          <p:cNvGrpSpPr/>
          <p:nvPr/>
        </p:nvGrpSpPr>
        <p:grpSpPr>
          <a:xfrm>
            <a:off x="336896" y="5681431"/>
            <a:ext cx="11465394" cy="1068833"/>
            <a:chOff x="2296574" y="1498733"/>
            <a:chExt cx="4572048" cy="1039387"/>
          </a:xfrm>
        </p:grpSpPr>
        <p:sp>
          <p:nvSpPr>
            <p:cNvPr id="24" name="Google Shape;1659;p16">
              <a:extLst>
                <a:ext uri="{FF2B5EF4-FFF2-40B4-BE49-F238E27FC236}">
                  <a16:creationId xmlns:a16="http://schemas.microsoft.com/office/drawing/2014/main" id="{977CAA75-C914-9BAE-C31A-AD0B05E6F9EA}"/>
                </a:ext>
              </a:extLst>
            </p:cNvPr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25" name="Google Shape;1660;p16">
              <a:extLst>
                <a:ext uri="{FF2B5EF4-FFF2-40B4-BE49-F238E27FC236}">
                  <a16:creationId xmlns:a16="http://schemas.microsoft.com/office/drawing/2014/main" id="{AA289676-9E91-E679-2CDA-BFC43C36B43B}"/>
                </a:ext>
              </a:extLst>
            </p:cNvPr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6" name="Google Shape;1665;p16">
            <a:extLst>
              <a:ext uri="{FF2B5EF4-FFF2-40B4-BE49-F238E27FC236}">
                <a16:creationId xmlns:a16="http://schemas.microsoft.com/office/drawing/2014/main" id="{1E0B72E1-8998-E7D1-5C4C-E69DECDEA1A0}"/>
              </a:ext>
            </a:extLst>
          </p:cNvPr>
          <p:cNvGrpSpPr/>
          <p:nvPr/>
        </p:nvGrpSpPr>
        <p:grpSpPr>
          <a:xfrm>
            <a:off x="11468618" y="5851920"/>
            <a:ext cx="667334" cy="667333"/>
            <a:chOff x="1691842" y="2809946"/>
            <a:chExt cx="607731" cy="607731"/>
          </a:xfrm>
        </p:grpSpPr>
        <p:sp>
          <p:nvSpPr>
            <p:cNvPr id="29" name="Google Shape;1666;p16">
              <a:extLst>
                <a:ext uri="{FF2B5EF4-FFF2-40B4-BE49-F238E27FC236}">
                  <a16:creationId xmlns:a16="http://schemas.microsoft.com/office/drawing/2014/main" id="{1E518248-E40E-BACC-000B-76D6C4DEC2FB}"/>
                </a:ext>
              </a:extLst>
            </p:cNvPr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1" name="Google Shape;1667;p16">
              <a:extLst>
                <a:ext uri="{FF2B5EF4-FFF2-40B4-BE49-F238E27FC236}">
                  <a16:creationId xmlns:a16="http://schemas.microsoft.com/office/drawing/2014/main" id="{A93D86E0-5ABE-AD33-BC88-C9C4425FE31C}"/>
                </a:ext>
              </a:extLst>
            </p:cNvPr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34" name="Google Shape;1668;p16">
            <a:extLst>
              <a:ext uri="{FF2B5EF4-FFF2-40B4-BE49-F238E27FC236}">
                <a16:creationId xmlns:a16="http://schemas.microsoft.com/office/drawing/2014/main" id="{1ED74232-DDBD-5F00-C956-3CEBAFDFF917}"/>
              </a:ext>
            </a:extLst>
          </p:cNvPr>
          <p:cNvSpPr txBox="1"/>
          <p:nvPr/>
        </p:nvSpPr>
        <p:spPr>
          <a:xfrm>
            <a:off x="525799" y="6162662"/>
            <a:ext cx="1114040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Focus on the structural shift between alliances to show the scale of the state's new tri-polar realignment</a:t>
            </a:r>
          </a:p>
          <a:p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party-level movement sets the stage for our next look at the specific location where these shifts actually happened</a:t>
            </a:r>
            <a:endParaRPr sz="1500" b="0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" name="Google Shape;1669;p16">
            <a:extLst>
              <a:ext uri="{FF2B5EF4-FFF2-40B4-BE49-F238E27FC236}">
                <a16:creationId xmlns:a16="http://schemas.microsoft.com/office/drawing/2014/main" id="{70810A89-A4AA-CC29-16CA-6915F14C6E4F}"/>
              </a:ext>
            </a:extLst>
          </p:cNvPr>
          <p:cNvSpPr txBox="1"/>
          <p:nvPr/>
        </p:nvSpPr>
        <p:spPr>
          <a:xfrm>
            <a:off x="488887" y="5840176"/>
            <a:ext cx="338304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Editorial Recommendation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64330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3C28-6AAB-A8DC-8C48-A6B1805BD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ABF932-4455-2608-B30E-7C16B8EF508A}"/>
              </a:ext>
            </a:extLst>
          </p:cNvPr>
          <p:cNvSpPr txBox="1"/>
          <p:nvPr/>
        </p:nvSpPr>
        <p:spPr>
          <a:xfrm>
            <a:off x="389710" y="428993"/>
            <a:ext cx="7934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Rockwell Condensed" panose="02060603050405020104" pitchFamily="18" charset="0"/>
              </a:rPr>
              <a:t>A New Map: See Which Constituencies Voted Differently</a:t>
            </a:r>
          </a:p>
        </p:txBody>
      </p:sp>
      <p:sp>
        <p:nvSpPr>
          <p:cNvPr id="1512" name="TextBox 1511">
            <a:extLst>
              <a:ext uri="{FF2B5EF4-FFF2-40B4-BE49-F238E27FC236}">
                <a16:creationId xmlns:a16="http://schemas.microsoft.com/office/drawing/2014/main" id="{5A98FA02-ED0D-EDD6-6F39-F312D63C78FF}"/>
              </a:ext>
            </a:extLst>
          </p:cNvPr>
          <p:cNvSpPr txBox="1"/>
          <p:nvPr/>
        </p:nvSpPr>
        <p:spPr>
          <a:xfrm>
            <a:off x="389710" y="56829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Old English Text MT" panose="03040902040508030806" pitchFamily="66" charset="0"/>
              </a:rPr>
              <a:t>Atliq</a:t>
            </a:r>
            <a:r>
              <a:rPr lang="en-US" dirty="0">
                <a:latin typeface="Old English Text MT" panose="03040902040508030806" pitchFamily="66" charset="0"/>
              </a:rPr>
              <a:t> Media</a:t>
            </a:r>
          </a:p>
        </p:txBody>
      </p:sp>
      <p:cxnSp>
        <p:nvCxnSpPr>
          <p:cNvPr id="1513" name="Straight Connector 1512">
            <a:extLst>
              <a:ext uri="{FF2B5EF4-FFF2-40B4-BE49-F238E27FC236}">
                <a16:creationId xmlns:a16="http://schemas.microsoft.com/office/drawing/2014/main" id="{828DB12C-6369-B00A-F29B-BF87167E69F9}"/>
              </a:ext>
            </a:extLst>
          </p:cNvPr>
          <p:cNvCxnSpPr>
            <a:cxnSpLocks/>
          </p:cNvCxnSpPr>
          <p:nvPr/>
        </p:nvCxnSpPr>
        <p:spPr>
          <a:xfrm>
            <a:off x="1688627" y="241495"/>
            <a:ext cx="10113658" cy="0"/>
          </a:xfrm>
          <a:prstGeom prst="line">
            <a:avLst/>
          </a:prstGeom>
          <a:ln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oogle Shape;1658;p16">
            <a:extLst>
              <a:ext uri="{FF2B5EF4-FFF2-40B4-BE49-F238E27FC236}">
                <a16:creationId xmlns:a16="http://schemas.microsoft.com/office/drawing/2014/main" id="{6DE836FD-BFFC-3A0C-7C44-AA973AF85393}"/>
              </a:ext>
            </a:extLst>
          </p:cNvPr>
          <p:cNvGrpSpPr/>
          <p:nvPr/>
        </p:nvGrpSpPr>
        <p:grpSpPr>
          <a:xfrm>
            <a:off x="336896" y="5275996"/>
            <a:ext cx="11465394" cy="1511603"/>
            <a:chOff x="2296574" y="1498733"/>
            <a:chExt cx="4572048" cy="1039387"/>
          </a:xfrm>
        </p:grpSpPr>
        <p:sp>
          <p:nvSpPr>
            <p:cNvPr id="10" name="Google Shape;1659;p16">
              <a:extLst>
                <a:ext uri="{FF2B5EF4-FFF2-40B4-BE49-F238E27FC236}">
                  <a16:creationId xmlns:a16="http://schemas.microsoft.com/office/drawing/2014/main" id="{EDC66FE1-D7FD-6C54-45E2-DC51EA622AA0}"/>
                </a:ext>
              </a:extLst>
            </p:cNvPr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13" name="Google Shape;1660;p16">
              <a:extLst>
                <a:ext uri="{FF2B5EF4-FFF2-40B4-BE49-F238E27FC236}">
                  <a16:creationId xmlns:a16="http://schemas.microsoft.com/office/drawing/2014/main" id="{BF737470-93B1-F160-170B-4C316B8AB591}"/>
                </a:ext>
              </a:extLst>
            </p:cNvPr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" name="Google Shape;1665;p16">
            <a:extLst>
              <a:ext uri="{FF2B5EF4-FFF2-40B4-BE49-F238E27FC236}">
                <a16:creationId xmlns:a16="http://schemas.microsoft.com/office/drawing/2014/main" id="{2D518613-0856-6137-401E-F613C0DA9E52}"/>
              </a:ext>
            </a:extLst>
          </p:cNvPr>
          <p:cNvGrpSpPr/>
          <p:nvPr/>
        </p:nvGrpSpPr>
        <p:grpSpPr>
          <a:xfrm>
            <a:off x="11536660" y="5727861"/>
            <a:ext cx="667334" cy="667333"/>
            <a:chOff x="1691842" y="2809946"/>
            <a:chExt cx="607731" cy="607731"/>
          </a:xfrm>
        </p:grpSpPr>
        <p:sp>
          <p:nvSpPr>
            <p:cNvPr id="17" name="Google Shape;1666;p16">
              <a:extLst>
                <a:ext uri="{FF2B5EF4-FFF2-40B4-BE49-F238E27FC236}">
                  <a16:creationId xmlns:a16="http://schemas.microsoft.com/office/drawing/2014/main" id="{A4F192EF-3915-4BB2-9BB8-9AA5678833D7}"/>
                </a:ext>
              </a:extLst>
            </p:cNvPr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" name="Google Shape;1667;p16">
              <a:extLst>
                <a:ext uri="{FF2B5EF4-FFF2-40B4-BE49-F238E27FC236}">
                  <a16:creationId xmlns:a16="http://schemas.microsoft.com/office/drawing/2014/main" id="{EE883E31-1E91-C50A-62EB-D3B06F5BF980}"/>
                </a:ext>
              </a:extLst>
            </p:cNvPr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9" name="Google Shape;1668;p16">
            <a:extLst>
              <a:ext uri="{FF2B5EF4-FFF2-40B4-BE49-F238E27FC236}">
                <a16:creationId xmlns:a16="http://schemas.microsoft.com/office/drawing/2014/main" id="{7FF7D248-B637-ABB5-FEAA-229DFE8FAEE6}"/>
              </a:ext>
            </a:extLst>
          </p:cNvPr>
          <p:cNvSpPr txBox="1"/>
          <p:nvPr/>
        </p:nvSpPr>
        <p:spPr>
          <a:xfrm>
            <a:off x="525799" y="5757227"/>
            <a:ext cx="1114040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a 'Constituency Spotlight' on the most high-impact seat transfers identified in the data. Transition from statewide aggregate statistics to specific high-flip districts to maintain viewer engagement. </a:t>
            </a:r>
          </a:p>
          <a:p>
            <a:endParaRPr lang="en-US" sz="1500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so many seats changing hands, we must next examine the intensity and closeness of these races</a:t>
            </a:r>
            <a:endParaRPr sz="1500" b="0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" name="Google Shape;1669;p16">
            <a:extLst>
              <a:ext uri="{FF2B5EF4-FFF2-40B4-BE49-F238E27FC236}">
                <a16:creationId xmlns:a16="http://schemas.microsoft.com/office/drawing/2014/main" id="{A5A04434-DDF2-13AB-8931-70D123ECD99C}"/>
              </a:ext>
            </a:extLst>
          </p:cNvPr>
          <p:cNvSpPr txBox="1"/>
          <p:nvPr/>
        </p:nvSpPr>
        <p:spPr>
          <a:xfrm>
            <a:off x="488887" y="5434741"/>
            <a:ext cx="338304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Editorial Recommendation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A1DD9C6-EAB1-6E03-C69C-3CE9C9C31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74" y="1455485"/>
            <a:ext cx="2991067" cy="3594452"/>
          </a:xfrm>
          <a:prstGeom prst="rect">
            <a:avLst/>
          </a:prstGeom>
        </p:spPr>
      </p:pic>
      <p:sp>
        <p:nvSpPr>
          <p:cNvPr id="5" name="Google Shape;1481;p14">
            <a:extLst>
              <a:ext uri="{FF2B5EF4-FFF2-40B4-BE49-F238E27FC236}">
                <a16:creationId xmlns:a16="http://schemas.microsoft.com/office/drawing/2014/main" id="{E5B26CDA-FFEA-B150-53AB-F6804DECDBA1}"/>
              </a:ext>
            </a:extLst>
          </p:cNvPr>
          <p:cNvSpPr/>
          <p:nvPr/>
        </p:nvSpPr>
        <p:spPr>
          <a:xfrm>
            <a:off x="823222" y="1269725"/>
            <a:ext cx="2576360" cy="312749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Flipped Constituencies</a:t>
            </a:r>
            <a:endParaRPr sz="16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E68A216-A858-5754-677A-966F7D705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991" y="1652045"/>
            <a:ext cx="4302148" cy="3570430"/>
          </a:xfrm>
          <a:prstGeom prst="rect">
            <a:avLst/>
          </a:prstGeom>
        </p:spPr>
      </p:pic>
      <p:sp>
        <p:nvSpPr>
          <p:cNvPr id="25" name="Google Shape;1481;p14">
            <a:extLst>
              <a:ext uri="{FF2B5EF4-FFF2-40B4-BE49-F238E27FC236}">
                <a16:creationId xmlns:a16="http://schemas.microsoft.com/office/drawing/2014/main" id="{4C667A76-1D1C-7647-A006-190E6CF66796}"/>
              </a:ext>
            </a:extLst>
          </p:cNvPr>
          <p:cNvSpPr/>
          <p:nvPr/>
        </p:nvSpPr>
        <p:spPr>
          <a:xfrm>
            <a:off x="5169655" y="1269725"/>
            <a:ext cx="2576360" cy="312749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Region-wise Flips</a:t>
            </a:r>
            <a:endParaRPr sz="16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6AB7E1-74C0-D653-91D4-C08C1091818A}"/>
              </a:ext>
            </a:extLst>
          </p:cNvPr>
          <p:cNvSpPr txBox="1"/>
          <p:nvPr/>
        </p:nvSpPr>
        <p:spPr>
          <a:xfrm>
            <a:off x="9007135" y="1262741"/>
            <a:ext cx="1352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Rockwell Condensed" panose="02060603050405020104" pitchFamily="18" charset="0"/>
              </a:rPr>
              <a:t>163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7C48DA-8B12-75A3-845A-27EA541E84F9}"/>
              </a:ext>
            </a:extLst>
          </p:cNvPr>
          <p:cNvSpPr txBox="1"/>
          <p:nvPr/>
        </p:nvSpPr>
        <p:spPr>
          <a:xfrm>
            <a:off x="10281153" y="1269725"/>
            <a:ext cx="1695452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Total Flipped Constituencies</a:t>
            </a:r>
          </a:p>
          <a:p>
            <a:r>
              <a:rPr lang="en-US" sz="1400" dirty="0">
                <a:latin typeface="Franklin Gothic Book" panose="020B0503020102020204" pitchFamily="34" charset="0"/>
              </a:rPr>
              <a:t>(69.7%)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60D690-9A3C-CB11-DFBD-C63BFFE2DDE2}"/>
              </a:ext>
            </a:extLst>
          </p:cNvPr>
          <p:cNvCxnSpPr>
            <a:cxnSpLocks/>
          </p:cNvCxnSpPr>
          <p:nvPr/>
        </p:nvCxnSpPr>
        <p:spPr>
          <a:xfrm>
            <a:off x="10056554" y="1269725"/>
            <a:ext cx="0" cy="639346"/>
          </a:xfrm>
          <a:prstGeom prst="line">
            <a:avLst/>
          </a:prstGeom>
          <a:ln w="19050"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36D6276-563B-ECA2-B8BB-6B4B072533E2}"/>
              </a:ext>
            </a:extLst>
          </p:cNvPr>
          <p:cNvSpPr txBox="1"/>
          <p:nvPr/>
        </p:nvSpPr>
        <p:spPr>
          <a:xfrm>
            <a:off x="9076145" y="2155292"/>
            <a:ext cx="2543633" cy="246221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The geographic map of Tamil Nadu has been redrawn, with massive redistribution of political control across most districts</a:t>
            </a:r>
          </a:p>
          <a:p>
            <a:endParaRPr lang="en-US" sz="1400" dirty="0">
              <a:latin typeface="Franklin Gothic Book" panose="020B0503020102020204" pitchFamily="34" charset="0"/>
            </a:endParaRPr>
          </a:p>
          <a:p>
            <a:endParaRPr lang="en-US" sz="1400" dirty="0">
              <a:latin typeface="Franklin Gothic Book" panose="020B0503020102020204" pitchFamily="34" charset="0"/>
            </a:endParaRPr>
          </a:p>
          <a:p>
            <a:r>
              <a:rPr lang="en-US" sz="1400" dirty="0">
                <a:latin typeface="Franklin Gothic Book" panose="020B0503020102020204" pitchFamily="34" charset="0"/>
              </a:rPr>
              <a:t>The South region recorded the highest count of flipped constituencies in the state</a:t>
            </a:r>
          </a:p>
          <a:p>
            <a:endParaRPr lang="en-US" sz="1400" dirty="0">
              <a:latin typeface="Franklin Gothic Book" panose="020B0503020102020204" pitchFamily="34" charset="0"/>
            </a:endParaRPr>
          </a:p>
        </p:txBody>
      </p:sp>
      <p:sp>
        <p:nvSpPr>
          <p:cNvPr id="40" name="Google Shape;1481;p14">
            <a:extLst>
              <a:ext uri="{FF2B5EF4-FFF2-40B4-BE49-F238E27FC236}">
                <a16:creationId xmlns:a16="http://schemas.microsoft.com/office/drawing/2014/main" id="{96A297AF-5A84-1EA5-EA68-C4FAF0067811}"/>
              </a:ext>
            </a:extLst>
          </p:cNvPr>
          <p:cNvSpPr/>
          <p:nvPr/>
        </p:nvSpPr>
        <p:spPr>
          <a:xfrm rot="16200000">
            <a:off x="2982770" y="3014051"/>
            <a:ext cx="2164170" cy="322893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No. </a:t>
            </a:r>
            <a:r>
              <a:rPr lang="en-US" sz="16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Constituencies</a:t>
            </a:r>
            <a:endParaRPr sz="16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6BE8F9-0C9A-3FAE-6230-ED57FAB0E081}"/>
              </a:ext>
            </a:extLst>
          </p:cNvPr>
          <p:cNvSpPr/>
          <p:nvPr/>
        </p:nvSpPr>
        <p:spPr>
          <a:xfrm>
            <a:off x="8812008" y="4655540"/>
            <a:ext cx="2543633" cy="384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877913-E09F-7B0C-EB05-D9E30CD7E2E0}"/>
              </a:ext>
            </a:extLst>
          </p:cNvPr>
          <p:cNvSpPr/>
          <p:nvPr/>
        </p:nvSpPr>
        <p:spPr>
          <a:xfrm>
            <a:off x="8932445" y="4718151"/>
            <a:ext cx="250166" cy="241540"/>
          </a:xfrm>
          <a:prstGeom prst="ellipse">
            <a:avLst/>
          </a:prstGeom>
          <a:solidFill>
            <a:srgbClr val="5B6CFF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B13D919-199D-29FF-3658-92DBCAECDE82}"/>
              </a:ext>
            </a:extLst>
          </p:cNvPr>
          <p:cNvSpPr/>
          <p:nvPr/>
        </p:nvSpPr>
        <p:spPr>
          <a:xfrm>
            <a:off x="9961977" y="4721592"/>
            <a:ext cx="250166" cy="241540"/>
          </a:xfrm>
          <a:prstGeom prst="ellipse">
            <a:avLst/>
          </a:prstGeom>
          <a:solidFill>
            <a:srgbClr val="D6DAE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E93C6-7F93-E3C2-3876-83E3FD445284}"/>
              </a:ext>
            </a:extLst>
          </p:cNvPr>
          <p:cNvSpPr txBox="1"/>
          <p:nvPr/>
        </p:nvSpPr>
        <p:spPr>
          <a:xfrm>
            <a:off x="9147519" y="4664237"/>
            <a:ext cx="8144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Flipped</a:t>
            </a:r>
            <a:endParaRPr lang="en-IN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526253-38BA-CE86-6134-FA0ED32C6E55}"/>
              </a:ext>
            </a:extLst>
          </p:cNvPr>
          <p:cNvSpPr txBox="1"/>
          <p:nvPr/>
        </p:nvSpPr>
        <p:spPr>
          <a:xfrm>
            <a:off x="10212143" y="4664236"/>
            <a:ext cx="14790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Not Flipped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53996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5275-2A70-E9E3-AE4A-3349F23F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0F8E12-8694-1E1A-1DDA-586C29822EE3}"/>
              </a:ext>
            </a:extLst>
          </p:cNvPr>
          <p:cNvSpPr txBox="1"/>
          <p:nvPr/>
        </p:nvSpPr>
        <p:spPr>
          <a:xfrm>
            <a:off x="389710" y="428993"/>
            <a:ext cx="7934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Rockwell Condensed" panose="02060603050405020104" pitchFamily="18" charset="0"/>
              </a:rPr>
              <a:t> Close Races: Narrowing Gap Between Winners and Losers</a:t>
            </a:r>
          </a:p>
        </p:txBody>
      </p:sp>
      <p:sp>
        <p:nvSpPr>
          <p:cNvPr id="1512" name="TextBox 1511">
            <a:extLst>
              <a:ext uri="{FF2B5EF4-FFF2-40B4-BE49-F238E27FC236}">
                <a16:creationId xmlns:a16="http://schemas.microsoft.com/office/drawing/2014/main" id="{179C7305-B45D-F86F-0A67-7D3A72C7B0C2}"/>
              </a:ext>
            </a:extLst>
          </p:cNvPr>
          <p:cNvSpPr txBox="1"/>
          <p:nvPr/>
        </p:nvSpPr>
        <p:spPr>
          <a:xfrm>
            <a:off x="389710" y="56829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Old English Text MT" panose="03040902040508030806" pitchFamily="66" charset="0"/>
              </a:rPr>
              <a:t>Atliq</a:t>
            </a:r>
            <a:r>
              <a:rPr lang="en-US" dirty="0">
                <a:latin typeface="Old English Text MT" panose="03040902040508030806" pitchFamily="66" charset="0"/>
              </a:rPr>
              <a:t> Media</a:t>
            </a:r>
          </a:p>
        </p:txBody>
      </p:sp>
      <p:cxnSp>
        <p:nvCxnSpPr>
          <p:cNvPr id="1513" name="Straight Connector 1512">
            <a:extLst>
              <a:ext uri="{FF2B5EF4-FFF2-40B4-BE49-F238E27FC236}">
                <a16:creationId xmlns:a16="http://schemas.microsoft.com/office/drawing/2014/main" id="{1B54D8B0-16B6-A135-5F53-D49EFEFEFC27}"/>
              </a:ext>
            </a:extLst>
          </p:cNvPr>
          <p:cNvCxnSpPr>
            <a:cxnSpLocks/>
          </p:cNvCxnSpPr>
          <p:nvPr/>
        </p:nvCxnSpPr>
        <p:spPr>
          <a:xfrm>
            <a:off x="1688627" y="241495"/>
            <a:ext cx="10113658" cy="0"/>
          </a:xfrm>
          <a:prstGeom prst="line">
            <a:avLst/>
          </a:prstGeom>
          <a:ln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0A9A1D4-5BF4-318F-ADDD-E35749EFA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99" y="1294850"/>
            <a:ext cx="6524541" cy="4268300"/>
          </a:xfrm>
          <a:prstGeom prst="rect">
            <a:avLst/>
          </a:prstGeom>
        </p:spPr>
      </p:pic>
      <p:grpSp>
        <p:nvGrpSpPr>
          <p:cNvPr id="8" name="Google Shape;1658;p16">
            <a:extLst>
              <a:ext uri="{FF2B5EF4-FFF2-40B4-BE49-F238E27FC236}">
                <a16:creationId xmlns:a16="http://schemas.microsoft.com/office/drawing/2014/main" id="{69F79F99-FBF4-FDAA-D644-4D58F94738EC}"/>
              </a:ext>
            </a:extLst>
          </p:cNvPr>
          <p:cNvGrpSpPr/>
          <p:nvPr/>
        </p:nvGrpSpPr>
        <p:grpSpPr>
          <a:xfrm>
            <a:off x="6953433" y="3893570"/>
            <a:ext cx="4848852" cy="2722935"/>
            <a:chOff x="2296574" y="1498733"/>
            <a:chExt cx="4572048" cy="1039387"/>
          </a:xfrm>
        </p:grpSpPr>
        <p:sp>
          <p:nvSpPr>
            <p:cNvPr id="11" name="Google Shape;1659;p16">
              <a:extLst>
                <a:ext uri="{FF2B5EF4-FFF2-40B4-BE49-F238E27FC236}">
                  <a16:creationId xmlns:a16="http://schemas.microsoft.com/office/drawing/2014/main" id="{3B61BFF0-138A-DBEC-FDA4-3CBC4DD78277}"/>
                </a:ext>
              </a:extLst>
            </p:cNvPr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12" name="Google Shape;1660;p16">
              <a:extLst>
                <a:ext uri="{FF2B5EF4-FFF2-40B4-BE49-F238E27FC236}">
                  <a16:creationId xmlns:a16="http://schemas.microsoft.com/office/drawing/2014/main" id="{94CCE8FE-A7BE-DAE3-6844-16AAE9989ABD}"/>
                </a:ext>
              </a:extLst>
            </p:cNvPr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" name="Google Shape;1661;p16">
            <a:extLst>
              <a:ext uri="{FF2B5EF4-FFF2-40B4-BE49-F238E27FC236}">
                <a16:creationId xmlns:a16="http://schemas.microsoft.com/office/drawing/2014/main" id="{55E28E39-297F-AF96-38C0-DC778E9A03BB}"/>
              </a:ext>
            </a:extLst>
          </p:cNvPr>
          <p:cNvSpPr/>
          <p:nvPr/>
        </p:nvSpPr>
        <p:spPr>
          <a:xfrm rot="5400000">
            <a:off x="7023434" y="4205501"/>
            <a:ext cx="330712" cy="470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0D6E6">
              <a:alpha val="5137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" name="Google Shape;1663;p16">
            <a:extLst>
              <a:ext uri="{FF2B5EF4-FFF2-40B4-BE49-F238E27FC236}">
                <a16:creationId xmlns:a16="http://schemas.microsoft.com/office/drawing/2014/main" id="{3615E5E4-5410-6E40-A19C-1C212C19815F}"/>
              </a:ext>
            </a:extLst>
          </p:cNvPr>
          <p:cNvSpPr/>
          <p:nvPr/>
        </p:nvSpPr>
        <p:spPr>
          <a:xfrm rot="10800000" flipH="1">
            <a:off x="7151502" y="4350500"/>
            <a:ext cx="180722" cy="1807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1" name="Google Shape;1665;p16">
            <a:extLst>
              <a:ext uri="{FF2B5EF4-FFF2-40B4-BE49-F238E27FC236}">
                <a16:creationId xmlns:a16="http://schemas.microsoft.com/office/drawing/2014/main" id="{C9BF8EE5-12C8-8369-EF1F-8C6AC1FD104D}"/>
              </a:ext>
            </a:extLst>
          </p:cNvPr>
          <p:cNvGrpSpPr/>
          <p:nvPr/>
        </p:nvGrpSpPr>
        <p:grpSpPr>
          <a:xfrm>
            <a:off x="11476549" y="4921370"/>
            <a:ext cx="667334" cy="667333"/>
            <a:chOff x="1691842" y="2809946"/>
            <a:chExt cx="607731" cy="607731"/>
          </a:xfrm>
        </p:grpSpPr>
        <p:sp>
          <p:nvSpPr>
            <p:cNvPr id="22" name="Google Shape;1666;p16">
              <a:extLst>
                <a:ext uri="{FF2B5EF4-FFF2-40B4-BE49-F238E27FC236}">
                  <a16:creationId xmlns:a16="http://schemas.microsoft.com/office/drawing/2014/main" id="{B3569426-902B-DE05-13A1-9FFB0969859F}"/>
                </a:ext>
              </a:extLst>
            </p:cNvPr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" name="Google Shape;1667;p16">
              <a:extLst>
                <a:ext uri="{FF2B5EF4-FFF2-40B4-BE49-F238E27FC236}">
                  <a16:creationId xmlns:a16="http://schemas.microsoft.com/office/drawing/2014/main" id="{0FB2B097-43CC-912A-AC1A-5281C7665AF1}"/>
                </a:ext>
              </a:extLst>
            </p:cNvPr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26" name="Google Shape;1668;p16">
            <a:extLst>
              <a:ext uri="{FF2B5EF4-FFF2-40B4-BE49-F238E27FC236}">
                <a16:creationId xmlns:a16="http://schemas.microsoft.com/office/drawing/2014/main" id="{C74489DD-A9E6-3297-4381-99646EE624AA}"/>
              </a:ext>
            </a:extLst>
          </p:cNvPr>
          <p:cNvSpPr txBox="1"/>
          <p:nvPr/>
        </p:nvSpPr>
        <p:spPr>
          <a:xfrm>
            <a:off x="7532513" y="4797931"/>
            <a:ext cx="3760086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a segment on the Delta and South regions to show how collapsed margins ended the "safe seat" era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1500" b="0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thin margins are a direct result of how the vote share was divided, which is our next focus.</a:t>
            </a:r>
            <a:endParaRPr sz="1500" b="0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" name="Google Shape;1669;p16">
            <a:extLst>
              <a:ext uri="{FF2B5EF4-FFF2-40B4-BE49-F238E27FC236}">
                <a16:creationId xmlns:a16="http://schemas.microsoft.com/office/drawing/2014/main" id="{27DCECB2-8298-0B87-A357-B02FAFA01769}"/>
              </a:ext>
            </a:extLst>
          </p:cNvPr>
          <p:cNvSpPr txBox="1"/>
          <p:nvPr/>
        </p:nvSpPr>
        <p:spPr>
          <a:xfrm>
            <a:off x="7530295" y="4333138"/>
            <a:ext cx="338304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Editorial Recommendation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8" name="Google Shape;1698;p16">
            <a:extLst>
              <a:ext uri="{FF2B5EF4-FFF2-40B4-BE49-F238E27FC236}">
                <a16:creationId xmlns:a16="http://schemas.microsoft.com/office/drawing/2014/main" id="{4FF68478-63F0-ADF3-5C49-35BD07CA53E2}"/>
              </a:ext>
            </a:extLst>
          </p:cNvPr>
          <p:cNvCxnSpPr>
            <a:cxnSpLocks/>
          </p:cNvCxnSpPr>
          <p:nvPr/>
        </p:nvCxnSpPr>
        <p:spPr>
          <a:xfrm flipH="1">
            <a:off x="7530295" y="4615355"/>
            <a:ext cx="1009521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B20917B-BA38-5926-C60D-35B5271D04DD}"/>
              </a:ext>
            </a:extLst>
          </p:cNvPr>
          <p:cNvSpPr txBox="1"/>
          <p:nvPr/>
        </p:nvSpPr>
        <p:spPr>
          <a:xfrm>
            <a:off x="1583086" y="5484665"/>
            <a:ext cx="1352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Rockwell Condensed" panose="02060603050405020104" pitchFamily="18" charset="0"/>
              </a:rPr>
              <a:t>22871</a:t>
            </a:r>
          </a:p>
        </p:txBody>
      </p:sp>
      <p:cxnSp>
        <p:nvCxnSpPr>
          <p:cNvPr id="31" name="Google Shape;1482;p14">
            <a:extLst>
              <a:ext uri="{FF2B5EF4-FFF2-40B4-BE49-F238E27FC236}">
                <a16:creationId xmlns:a16="http://schemas.microsoft.com/office/drawing/2014/main" id="{50A82655-56A3-01EC-1B81-875E5298162A}"/>
              </a:ext>
            </a:extLst>
          </p:cNvPr>
          <p:cNvCxnSpPr>
            <a:cxnSpLocks/>
          </p:cNvCxnSpPr>
          <p:nvPr/>
        </p:nvCxnSpPr>
        <p:spPr>
          <a:xfrm>
            <a:off x="5366321" y="2258365"/>
            <a:ext cx="323279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" name="Google Shape;1482;p14">
            <a:extLst>
              <a:ext uri="{FF2B5EF4-FFF2-40B4-BE49-F238E27FC236}">
                <a16:creationId xmlns:a16="http://schemas.microsoft.com/office/drawing/2014/main" id="{C62F38FF-D88F-6C2A-BC16-F525F656A739}"/>
              </a:ext>
            </a:extLst>
          </p:cNvPr>
          <p:cNvCxnSpPr>
            <a:cxnSpLocks/>
          </p:cNvCxnSpPr>
          <p:nvPr/>
        </p:nvCxnSpPr>
        <p:spPr>
          <a:xfrm>
            <a:off x="5698255" y="2258365"/>
            <a:ext cx="0" cy="53308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" name="Google Shape;1482;p14">
            <a:extLst>
              <a:ext uri="{FF2B5EF4-FFF2-40B4-BE49-F238E27FC236}">
                <a16:creationId xmlns:a16="http://schemas.microsoft.com/office/drawing/2014/main" id="{47ED3129-9320-EE31-B3C9-DF4BC97020D1}"/>
              </a:ext>
            </a:extLst>
          </p:cNvPr>
          <p:cNvCxnSpPr>
            <a:cxnSpLocks/>
          </p:cNvCxnSpPr>
          <p:nvPr/>
        </p:nvCxnSpPr>
        <p:spPr>
          <a:xfrm>
            <a:off x="5366321" y="2781065"/>
            <a:ext cx="323279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" name="Google Shape;1482;p14">
            <a:extLst>
              <a:ext uri="{FF2B5EF4-FFF2-40B4-BE49-F238E27FC236}">
                <a16:creationId xmlns:a16="http://schemas.microsoft.com/office/drawing/2014/main" id="{2DE426EA-E25F-D301-0B17-8E2C674EC081}"/>
              </a:ext>
            </a:extLst>
          </p:cNvPr>
          <p:cNvCxnSpPr>
            <a:cxnSpLocks/>
          </p:cNvCxnSpPr>
          <p:nvPr/>
        </p:nvCxnSpPr>
        <p:spPr>
          <a:xfrm>
            <a:off x="5696624" y="2518116"/>
            <a:ext cx="35703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" name="Google Shape;1481;p14">
            <a:extLst>
              <a:ext uri="{FF2B5EF4-FFF2-40B4-BE49-F238E27FC236}">
                <a16:creationId xmlns:a16="http://schemas.microsoft.com/office/drawing/2014/main" id="{3FBCC584-C8A6-CF1F-ACD6-EA175F4E6530}"/>
              </a:ext>
            </a:extLst>
          </p:cNvPr>
          <p:cNvSpPr/>
          <p:nvPr/>
        </p:nvSpPr>
        <p:spPr>
          <a:xfrm>
            <a:off x="6062318" y="2295397"/>
            <a:ext cx="4453282" cy="49605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Most dramatic compression of victory margins </a:t>
            </a:r>
            <a:endParaRPr sz="16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9B2F46-5E53-532B-D811-1466BB038424}"/>
              </a:ext>
            </a:extLst>
          </p:cNvPr>
          <p:cNvSpPr txBox="1"/>
          <p:nvPr/>
        </p:nvSpPr>
        <p:spPr>
          <a:xfrm>
            <a:off x="3886019" y="5490120"/>
            <a:ext cx="1352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Rockwell Condensed" panose="02060603050405020104" pitchFamily="18" charset="0"/>
              </a:rPr>
              <a:t>16784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80D158C-FFA7-C815-B95B-D6AAB22A5536}"/>
              </a:ext>
            </a:extLst>
          </p:cNvPr>
          <p:cNvCxnSpPr>
            <a:cxnSpLocks/>
          </p:cNvCxnSpPr>
          <p:nvPr/>
        </p:nvCxnSpPr>
        <p:spPr>
          <a:xfrm>
            <a:off x="3369580" y="5557695"/>
            <a:ext cx="0" cy="639346"/>
          </a:xfrm>
          <a:prstGeom prst="line">
            <a:avLst/>
          </a:prstGeom>
          <a:ln w="19050"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26C18F7-AC74-B7BC-5F79-60A1D219ACAB}"/>
              </a:ext>
            </a:extLst>
          </p:cNvPr>
          <p:cNvSpPr txBox="1"/>
          <p:nvPr/>
        </p:nvSpPr>
        <p:spPr>
          <a:xfrm>
            <a:off x="1364301" y="6275118"/>
            <a:ext cx="1929227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Average Margin in 2021</a:t>
            </a:r>
          </a:p>
        </p:txBody>
      </p:sp>
      <p:sp>
        <p:nvSpPr>
          <p:cNvPr id="52" name="Google Shape;1481;p14">
            <a:extLst>
              <a:ext uri="{FF2B5EF4-FFF2-40B4-BE49-F238E27FC236}">
                <a16:creationId xmlns:a16="http://schemas.microsoft.com/office/drawing/2014/main" id="{2E7FDDCF-0F05-FEE4-9300-25FE62C267D7}"/>
              </a:ext>
            </a:extLst>
          </p:cNvPr>
          <p:cNvSpPr/>
          <p:nvPr/>
        </p:nvSpPr>
        <p:spPr>
          <a:xfrm>
            <a:off x="2223089" y="1151326"/>
            <a:ext cx="2576360" cy="312749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Margin</a:t>
            </a:r>
            <a:endParaRPr sz="16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C272E3-90BB-CB90-54D3-2FD56D8A3CE9}"/>
              </a:ext>
            </a:extLst>
          </p:cNvPr>
          <p:cNvSpPr txBox="1"/>
          <p:nvPr/>
        </p:nvSpPr>
        <p:spPr>
          <a:xfrm>
            <a:off x="3717679" y="6275118"/>
            <a:ext cx="1929227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Average Margin in 2026</a:t>
            </a:r>
          </a:p>
          <a:p>
            <a:r>
              <a:rPr lang="en-US" sz="1400" dirty="0">
                <a:latin typeface="Franklin Gothic Book" panose="020B0503020102020204" pitchFamily="34" charset="0"/>
              </a:rPr>
              <a:t>          (26%)</a:t>
            </a:r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CCB4F5AD-4F48-4205-9F5E-BD2D8CA3A34C}"/>
              </a:ext>
            </a:extLst>
          </p:cNvPr>
          <p:cNvSpPr/>
          <p:nvPr/>
        </p:nvSpPr>
        <p:spPr>
          <a:xfrm>
            <a:off x="3971110" y="6570546"/>
            <a:ext cx="115584" cy="227792"/>
          </a:xfrm>
          <a:prstGeom prst="downArrow">
            <a:avLst/>
          </a:prstGeom>
          <a:solidFill>
            <a:srgbClr val="C00000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cxnSp>
        <p:nvCxnSpPr>
          <p:cNvPr id="55" name="Google Shape;1482;p14">
            <a:extLst>
              <a:ext uri="{FF2B5EF4-FFF2-40B4-BE49-F238E27FC236}">
                <a16:creationId xmlns:a16="http://schemas.microsoft.com/office/drawing/2014/main" id="{A8DA1856-96BA-4931-9382-745E511B42B1}"/>
              </a:ext>
            </a:extLst>
          </p:cNvPr>
          <p:cNvCxnSpPr>
            <a:cxnSpLocks/>
          </p:cNvCxnSpPr>
          <p:nvPr/>
        </p:nvCxnSpPr>
        <p:spPr>
          <a:xfrm>
            <a:off x="6509958" y="1747649"/>
            <a:ext cx="35703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" name="Google Shape;1481;p14">
            <a:extLst>
              <a:ext uri="{FF2B5EF4-FFF2-40B4-BE49-F238E27FC236}">
                <a16:creationId xmlns:a16="http://schemas.microsoft.com/office/drawing/2014/main" id="{25BB685D-4D35-CD53-30B0-152061168423}"/>
              </a:ext>
            </a:extLst>
          </p:cNvPr>
          <p:cNvSpPr/>
          <p:nvPr/>
        </p:nvSpPr>
        <p:spPr>
          <a:xfrm>
            <a:off x="6866995" y="1499552"/>
            <a:ext cx="4046346" cy="49605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exception </a:t>
            </a:r>
            <a:r>
              <a:rPr lang="en-US" sz="1600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slight i</a:t>
            </a:r>
            <a:r>
              <a:rPr lang="en-US" sz="160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ncrease in margin</a:t>
            </a:r>
            <a:endParaRPr sz="16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84B42C-F554-9D45-ECD7-E95E3B442092}"/>
              </a:ext>
            </a:extLst>
          </p:cNvPr>
          <p:cNvSpPr txBox="1"/>
          <p:nvPr/>
        </p:nvSpPr>
        <p:spPr>
          <a:xfrm>
            <a:off x="6953430" y="3014835"/>
            <a:ext cx="4772903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Across almost all regions, the buffer between victory and defeat shrank dramatically, signaling highly contested, multi-cornered fights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6177E9-D8F3-8C8A-D585-7F654FDB664C}"/>
              </a:ext>
            </a:extLst>
          </p:cNvPr>
          <p:cNvSpPr/>
          <p:nvPr/>
        </p:nvSpPr>
        <p:spPr>
          <a:xfrm>
            <a:off x="4872475" y="5045931"/>
            <a:ext cx="1754992" cy="384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C9DF69-17B4-1897-0F3D-CEFD1EBF222C}"/>
              </a:ext>
            </a:extLst>
          </p:cNvPr>
          <p:cNvSpPr/>
          <p:nvPr/>
        </p:nvSpPr>
        <p:spPr>
          <a:xfrm>
            <a:off x="5027749" y="5139826"/>
            <a:ext cx="250166" cy="241540"/>
          </a:xfrm>
          <a:prstGeom prst="ellipse">
            <a:avLst/>
          </a:prstGeom>
          <a:solidFill>
            <a:srgbClr val="5B6CFF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D6B541-B177-03E5-8B09-FEEB42D8F335}"/>
              </a:ext>
            </a:extLst>
          </p:cNvPr>
          <p:cNvSpPr/>
          <p:nvPr/>
        </p:nvSpPr>
        <p:spPr>
          <a:xfrm>
            <a:off x="5832993" y="5143267"/>
            <a:ext cx="250166" cy="241540"/>
          </a:xfrm>
          <a:prstGeom prst="ellipse">
            <a:avLst/>
          </a:prstGeom>
          <a:solidFill>
            <a:srgbClr val="D6DAE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03343-A365-4C6F-0BDA-9E92E7CA8122}"/>
              </a:ext>
            </a:extLst>
          </p:cNvPr>
          <p:cNvSpPr txBox="1"/>
          <p:nvPr/>
        </p:nvSpPr>
        <p:spPr>
          <a:xfrm>
            <a:off x="5242823" y="5085912"/>
            <a:ext cx="8144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2026</a:t>
            </a:r>
            <a:endParaRPr lang="en-IN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42D30-28AE-06C8-420C-AE4D1DA9AF02}"/>
              </a:ext>
            </a:extLst>
          </p:cNvPr>
          <p:cNvSpPr txBox="1"/>
          <p:nvPr/>
        </p:nvSpPr>
        <p:spPr>
          <a:xfrm>
            <a:off x="6083160" y="5085911"/>
            <a:ext cx="590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2021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76964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810B9-5349-564B-4373-6A771176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244D1-F8A7-0911-E7B1-F2D562D3CD58}"/>
              </a:ext>
            </a:extLst>
          </p:cNvPr>
          <p:cNvSpPr txBox="1"/>
          <p:nvPr/>
        </p:nvSpPr>
        <p:spPr>
          <a:xfrm>
            <a:off x="389710" y="428993"/>
            <a:ext cx="7934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Rockwell Condensed" panose="02060603050405020104" pitchFamily="18" charset="0"/>
              </a:rPr>
              <a:t>Era of Fractured Mandates – Vote Share Compression</a:t>
            </a:r>
          </a:p>
        </p:txBody>
      </p:sp>
      <p:sp>
        <p:nvSpPr>
          <p:cNvPr id="1512" name="TextBox 1511">
            <a:extLst>
              <a:ext uri="{FF2B5EF4-FFF2-40B4-BE49-F238E27FC236}">
                <a16:creationId xmlns:a16="http://schemas.microsoft.com/office/drawing/2014/main" id="{24B60225-B005-E0C3-00DB-3F340F9CD066}"/>
              </a:ext>
            </a:extLst>
          </p:cNvPr>
          <p:cNvSpPr txBox="1"/>
          <p:nvPr/>
        </p:nvSpPr>
        <p:spPr>
          <a:xfrm>
            <a:off x="389710" y="56829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Old English Text MT" panose="03040902040508030806" pitchFamily="66" charset="0"/>
              </a:rPr>
              <a:t>Atliq</a:t>
            </a:r>
            <a:r>
              <a:rPr lang="en-US" dirty="0">
                <a:latin typeface="Old English Text MT" panose="03040902040508030806" pitchFamily="66" charset="0"/>
              </a:rPr>
              <a:t> Media</a:t>
            </a:r>
          </a:p>
        </p:txBody>
      </p:sp>
      <p:cxnSp>
        <p:nvCxnSpPr>
          <p:cNvPr id="1513" name="Straight Connector 1512">
            <a:extLst>
              <a:ext uri="{FF2B5EF4-FFF2-40B4-BE49-F238E27FC236}">
                <a16:creationId xmlns:a16="http://schemas.microsoft.com/office/drawing/2014/main" id="{4C234A32-B23F-0CD1-4B98-9AD74552CACB}"/>
              </a:ext>
            </a:extLst>
          </p:cNvPr>
          <p:cNvCxnSpPr>
            <a:cxnSpLocks/>
          </p:cNvCxnSpPr>
          <p:nvPr/>
        </p:nvCxnSpPr>
        <p:spPr>
          <a:xfrm>
            <a:off x="1688627" y="241495"/>
            <a:ext cx="10113658" cy="0"/>
          </a:xfrm>
          <a:prstGeom prst="line">
            <a:avLst/>
          </a:prstGeom>
          <a:ln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8E0C1E9-4333-B890-4781-ACFA9742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87" y="1683643"/>
            <a:ext cx="4074395" cy="2897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4395BF-98FB-4EEA-0D30-927B31377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721" y="1669334"/>
            <a:ext cx="3517841" cy="3346997"/>
          </a:xfrm>
          <a:prstGeom prst="rect">
            <a:avLst/>
          </a:prstGeom>
        </p:spPr>
      </p:pic>
      <p:sp>
        <p:nvSpPr>
          <p:cNvPr id="17" name="Arrow: Notched Right 16">
            <a:extLst>
              <a:ext uri="{FF2B5EF4-FFF2-40B4-BE49-F238E27FC236}">
                <a16:creationId xmlns:a16="http://schemas.microsoft.com/office/drawing/2014/main" id="{028C02E7-9A75-F67C-FD9A-113C724DCDA1}"/>
              </a:ext>
            </a:extLst>
          </p:cNvPr>
          <p:cNvSpPr/>
          <p:nvPr/>
        </p:nvSpPr>
        <p:spPr>
          <a:xfrm>
            <a:off x="3895315" y="2247105"/>
            <a:ext cx="2824319" cy="1545127"/>
          </a:xfrm>
          <a:prstGeom prst="notchedRightArrow">
            <a:avLst/>
          </a:prstGeom>
          <a:solidFill>
            <a:srgbClr val="559E37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endParaRPr lang="en-IN" sz="1500" b="1" dirty="0">
              <a:solidFill>
                <a:schemeClr val="bg1"/>
              </a:solidFill>
              <a:latin typeface="Plus Jakarta Sans"/>
              <a:cs typeface="Plus Jakarta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563C3B-1DCF-339B-DBBE-E28BB6BDE5C3}"/>
              </a:ext>
            </a:extLst>
          </p:cNvPr>
          <p:cNvSpPr txBox="1"/>
          <p:nvPr/>
        </p:nvSpPr>
        <p:spPr>
          <a:xfrm>
            <a:off x="4255834" y="2696502"/>
            <a:ext cx="2353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en-US" sz="1800" b="1" dirty="0">
                <a:solidFill>
                  <a:schemeClr val="bg1"/>
                </a:solidFill>
                <a:latin typeface="Plus Jakarta Sans"/>
                <a:cs typeface="Plus Jakarta Sans"/>
              </a:rPr>
              <a:t>The Triangular Contest Effect</a:t>
            </a:r>
            <a:endParaRPr lang="en-IN" sz="1800" b="1" dirty="0">
              <a:solidFill>
                <a:schemeClr val="bg1"/>
              </a:solidFill>
              <a:latin typeface="Plus Jakarta Sans"/>
              <a:cs typeface="Plus Jakarta Sans"/>
            </a:endParaRPr>
          </a:p>
        </p:txBody>
      </p:sp>
      <p:sp>
        <p:nvSpPr>
          <p:cNvPr id="20" name="Google Shape;1481;p14">
            <a:extLst>
              <a:ext uri="{FF2B5EF4-FFF2-40B4-BE49-F238E27FC236}">
                <a16:creationId xmlns:a16="http://schemas.microsoft.com/office/drawing/2014/main" id="{993ED64A-259B-F068-F3CC-4824D440E3F2}"/>
              </a:ext>
            </a:extLst>
          </p:cNvPr>
          <p:cNvSpPr/>
          <p:nvPr/>
        </p:nvSpPr>
        <p:spPr>
          <a:xfrm>
            <a:off x="687735" y="1297981"/>
            <a:ext cx="2576360" cy="312749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2021 Mandate Strength</a:t>
            </a:r>
            <a:endParaRPr sz="16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481;p14">
            <a:extLst>
              <a:ext uri="{FF2B5EF4-FFF2-40B4-BE49-F238E27FC236}">
                <a16:creationId xmlns:a16="http://schemas.microsoft.com/office/drawing/2014/main" id="{23A7C3E6-F861-8177-5D29-91B57E88FDF3}"/>
              </a:ext>
            </a:extLst>
          </p:cNvPr>
          <p:cNvSpPr/>
          <p:nvPr/>
        </p:nvSpPr>
        <p:spPr>
          <a:xfrm>
            <a:off x="7219108" y="1297981"/>
            <a:ext cx="2576360" cy="312749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 Mandate Strength</a:t>
            </a:r>
            <a:endParaRPr sz="16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AF28BD-F260-E512-DEC9-D5569B11D7DA}"/>
              </a:ext>
            </a:extLst>
          </p:cNvPr>
          <p:cNvSpPr txBox="1"/>
          <p:nvPr/>
        </p:nvSpPr>
        <p:spPr>
          <a:xfrm>
            <a:off x="488887" y="4808695"/>
            <a:ext cx="11465388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Not only did seats flip, but they were won with lower vote shares. The 50 percent mandate has ruptured</a:t>
            </a:r>
          </a:p>
        </p:txBody>
      </p:sp>
      <p:grpSp>
        <p:nvGrpSpPr>
          <p:cNvPr id="29" name="Google Shape;1658;p16">
            <a:extLst>
              <a:ext uri="{FF2B5EF4-FFF2-40B4-BE49-F238E27FC236}">
                <a16:creationId xmlns:a16="http://schemas.microsoft.com/office/drawing/2014/main" id="{8E11E3D6-70A7-2A1C-D5A9-B16F54964659}"/>
              </a:ext>
            </a:extLst>
          </p:cNvPr>
          <p:cNvGrpSpPr/>
          <p:nvPr/>
        </p:nvGrpSpPr>
        <p:grpSpPr>
          <a:xfrm>
            <a:off x="336896" y="5275996"/>
            <a:ext cx="11465394" cy="1511603"/>
            <a:chOff x="2296574" y="1498733"/>
            <a:chExt cx="4572048" cy="1039387"/>
          </a:xfrm>
        </p:grpSpPr>
        <p:sp>
          <p:nvSpPr>
            <p:cNvPr id="32" name="Google Shape;1659;p16">
              <a:extLst>
                <a:ext uri="{FF2B5EF4-FFF2-40B4-BE49-F238E27FC236}">
                  <a16:creationId xmlns:a16="http://schemas.microsoft.com/office/drawing/2014/main" id="{0A090A90-A753-F576-31EA-AD1A16062285}"/>
                </a:ext>
              </a:extLst>
            </p:cNvPr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34" name="Google Shape;1660;p16">
              <a:extLst>
                <a:ext uri="{FF2B5EF4-FFF2-40B4-BE49-F238E27FC236}">
                  <a16:creationId xmlns:a16="http://schemas.microsoft.com/office/drawing/2014/main" id="{49A709DA-4BBF-1FA3-918B-24850329B6BA}"/>
                </a:ext>
              </a:extLst>
            </p:cNvPr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5" name="Google Shape;1665;p16">
            <a:extLst>
              <a:ext uri="{FF2B5EF4-FFF2-40B4-BE49-F238E27FC236}">
                <a16:creationId xmlns:a16="http://schemas.microsoft.com/office/drawing/2014/main" id="{33BBA12F-B9E9-88BA-A7FF-E96844F3DE2E}"/>
              </a:ext>
            </a:extLst>
          </p:cNvPr>
          <p:cNvGrpSpPr/>
          <p:nvPr/>
        </p:nvGrpSpPr>
        <p:grpSpPr>
          <a:xfrm>
            <a:off x="11536660" y="5727861"/>
            <a:ext cx="667334" cy="667333"/>
            <a:chOff x="1691842" y="2809946"/>
            <a:chExt cx="607731" cy="607731"/>
          </a:xfrm>
        </p:grpSpPr>
        <p:sp>
          <p:nvSpPr>
            <p:cNvPr id="36" name="Google Shape;1666;p16">
              <a:extLst>
                <a:ext uri="{FF2B5EF4-FFF2-40B4-BE49-F238E27FC236}">
                  <a16:creationId xmlns:a16="http://schemas.microsoft.com/office/drawing/2014/main" id="{1DFCCF6C-6FE7-7E21-3153-DEAAE08B953A}"/>
                </a:ext>
              </a:extLst>
            </p:cNvPr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" name="Google Shape;1667;p16">
              <a:extLst>
                <a:ext uri="{FF2B5EF4-FFF2-40B4-BE49-F238E27FC236}">
                  <a16:creationId xmlns:a16="http://schemas.microsoft.com/office/drawing/2014/main" id="{AD35044D-2991-1C2F-E2B5-68226CC72B19}"/>
                </a:ext>
              </a:extLst>
            </p:cNvPr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39" name="Google Shape;1668;p16">
            <a:extLst>
              <a:ext uri="{FF2B5EF4-FFF2-40B4-BE49-F238E27FC236}">
                <a16:creationId xmlns:a16="http://schemas.microsoft.com/office/drawing/2014/main" id="{EAC88C3F-63D4-616D-8CA8-4C1F28261553}"/>
              </a:ext>
            </a:extLst>
          </p:cNvPr>
          <p:cNvSpPr txBox="1"/>
          <p:nvPr/>
        </p:nvSpPr>
        <p:spPr>
          <a:xfrm>
            <a:off x="525799" y="5757227"/>
            <a:ext cx="1114040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Launch a </a:t>
            </a:r>
            <a:r>
              <a:rPr lang="en-US" sz="15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'Fragmented Verdict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' segment that specifically spotlights the 64 constituencies where winners secured less than 35% of the vote. Contrast this surge (up from only 2 such seats in 2021) with the </a:t>
            </a:r>
            <a:r>
              <a:rPr lang="en-US" sz="15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collapse of 'Decisive Mandates'—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showing that seats won with over 50% vote share plummeted from 70 to just 13</a:t>
            </a:r>
          </a:p>
        </p:txBody>
      </p:sp>
      <p:sp>
        <p:nvSpPr>
          <p:cNvPr id="40" name="Google Shape;1669;p16">
            <a:extLst>
              <a:ext uri="{FF2B5EF4-FFF2-40B4-BE49-F238E27FC236}">
                <a16:creationId xmlns:a16="http://schemas.microsoft.com/office/drawing/2014/main" id="{46EBE090-41A9-9511-149E-713F06E64336}"/>
              </a:ext>
            </a:extLst>
          </p:cNvPr>
          <p:cNvSpPr txBox="1"/>
          <p:nvPr/>
        </p:nvSpPr>
        <p:spPr>
          <a:xfrm>
            <a:off x="488887" y="5434741"/>
            <a:ext cx="338304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Editorial Recommendation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B6A000-90C6-E901-A4CF-AB3EF815E4A2}"/>
              </a:ext>
            </a:extLst>
          </p:cNvPr>
          <p:cNvSpPr/>
          <p:nvPr/>
        </p:nvSpPr>
        <p:spPr>
          <a:xfrm>
            <a:off x="10342795" y="2708035"/>
            <a:ext cx="1434925" cy="22616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79DC1F-8DE4-8A40-BFF1-E7A68F0F1FD0}"/>
              </a:ext>
            </a:extLst>
          </p:cNvPr>
          <p:cNvSpPr/>
          <p:nvPr/>
        </p:nvSpPr>
        <p:spPr>
          <a:xfrm>
            <a:off x="10477800" y="2877869"/>
            <a:ext cx="250166" cy="241540"/>
          </a:xfrm>
          <a:prstGeom prst="ellipse">
            <a:avLst/>
          </a:prstGeom>
          <a:solidFill>
            <a:srgbClr val="5B6CFF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09FB47-D608-BC59-2914-AABFE1E26109}"/>
              </a:ext>
            </a:extLst>
          </p:cNvPr>
          <p:cNvSpPr/>
          <p:nvPr/>
        </p:nvSpPr>
        <p:spPr>
          <a:xfrm>
            <a:off x="10477800" y="4106238"/>
            <a:ext cx="250166" cy="241540"/>
          </a:xfrm>
          <a:prstGeom prst="ellipse">
            <a:avLst/>
          </a:prstGeom>
          <a:solidFill>
            <a:srgbClr val="B7794B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7C2933-835A-B00A-D28A-0FA0DCD16255}"/>
              </a:ext>
            </a:extLst>
          </p:cNvPr>
          <p:cNvSpPr/>
          <p:nvPr/>
        </p:nvSpPr>
        <p:spPr>
          <a:xfrm>
            <a:off x="10477800" y="4507302"/>
            <a:ext cx="250166" cy="241540"/>
          </a:xfrm>
          <a:prstGeom prst="ellipse">
            <a:avLst/>
          </a:prstGeom>
          <a:solidFill>
            <a:srgbClr val="8E99A8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90A5C4-F92D-8A1F-FD3B-27705EFA766A}"/>
              </a:ext>
            </a:extLst>
          </p:cNvPr>
          <p:cNvSpPr txBox="1"/>
          <p:nvPr/>
        </p:nvSpPr>
        <p:spPr>
          <a:xfrm>
            <a:off x="10391547" y="3184062"/>
            <a:ext cx="135507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Winners secured &gt; 50% vote share </a:t>
            </a:r>
            <a:endParaRPr lang="en-IN" sz="1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26C425-8847-FD80-17F5-8EBB71E1F1CF}"/>
              </a:ext>
            </a:extLst>
          </p:cNvPr>
          <p:cNvSpPr txBox="1"/>
          <p:nvPr/>
        </p:nvSpPr>
        <p:spPr>
          <a:xfrm>
            <a:off x="10754453" y="4065425"/>
            <a:ext cx="9486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35–50%</a:t>
            </a:r>
            <a:endParaRPr lang="en-IN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BC1579-C0D4-D9D6-BB23-A149457BCE34}"/>
              </a:ext>
            </a:extLst>
          </p:cNvPr>
          <p:cNvSpPr txBox="1"/>
          <p:nvPr/>
        </p:nvSpPr>
        <p:spPr>
          <a:xfrm>
            <a:off x="10754453" y="4442090"/>
            <a:ext cx="6645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&lt;35%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961843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AAC0C-F0DB-DDB5-FA89-F2B19F0A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06EE-972C-D55B-353A-533B30428FC4}"/>
              </a:ext>
            </a:extLst>
          </p:cNvPr>
          <p:cNvSpPr txBox="1"/>
          <p:nvPr/>
        </p:nvSpPr>
        <p:spPr>
          <a:xfrm>
            <a:off x="389710" y="428993"/>
            <a:ext cx="7934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Rockwell Condensed" panose="02060603050405020104" pitchFamily="18" charset="0"/>
              </a:rPr>
              <a:t>Storytelling Flow</a:t>
            </a:r>
          </a:p>
        </p:txBody>
      </p:sp>
      <p:sp>
        <p:nvSpPr>
          <p:cNvPr id="1512" name="TextBox 1511">
            <a:extLst>
              <a:ext uri="{FF2B5EF4-FFF2-40B4-BE49-F238E27FC236}">
                <a16:creationId xmlns:a16="http://schemas.microsoft.com/office/drawing/2014/main" id="{3879BC5C-6B2E-D4DE-DB3C-FB892AA14E01}"/>
              </a:ext>
            </a:extLst>
          </p:cNvPr>
          <p:cNvSpPr txBox="1"/>
          <p:nvPr/>
        </p:nvSpPr>
        <p:spPr>
          <a:xfrm>
            <a:off x="389710" y="56829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Old English Text MT" panose="03040902040508030806" pitchFamily="66" charset="0"/>
              </a:rPr>
              <a:t>Atliq</a:t>
            </a:r>
            <a:r>
              <a:rPr lang="en-US" dirty="0">
                <a:latin typeface="Old English Text MT" panose="03040902040508030806" pitchFamily="66" charset="0"/>
              </a:rPr>
              <a:t> Media</a:t>
            </a:r>
          </a:p>
        </p:txBody>
      </p:sp>
      <p:cxnSp>
        <p:nvCxnSpPr>
          <p:cNvPr id="1513" name="Straight Connector 1512">
            <a:extLst>
              <a:ext uri="{FF2B5EF4-FFF2-40B4-BE49-F238E27FC236}">
                <a16:creationId xmlns:a16="http://schemas.microsoft.com/office/drawing/2014/main" id="{B1B60BF5-C5D0-EBDE-B155-A1F1DB382A97}"/>
              </a:ext>
            </a:extLst>
          </p:cNvPr>
          <p:cNvCxnSpPr>
            <a:cxnSpLocks/>
          </p:cNvCxnSpPr>
          <p:nvPr/>
        </p:nvCxnSpPr>
        <p:spPr>
          <a:xfrm>
            <a:off x="1688627" y="241495"/>
            <a:ext cx="10113658" cy="0"/>
          </a:xfrm>
          <a:prstGeom prst="line">
            <a:avLst/>
          </a:prstGeom>
          <a:ln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0687EC-C1A8-417D-B5D0-399A6950B643}"/>
              </a:ext>
            </a:extLst>
          </p:cNvPr>
          <p:cNvGrpSpPr/>
          <p:nvPr/>
        </p:nvGrpSpPr>
        <p:grpSpPr>
          <a:xfrm>
            <a:off x="604912" y="1201265"/>
            <a:ext cx="3466753" cy="1012306"/>
            <a:chOff x="723899" y="2400229"/>
            <a:chExt cx="1743075" cy="145876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2F1F02-480B-9B3F-68DC-EAFB8A38F50B}"/>
                </a:ext>
              </a:extLst>
            </p:cNvPr>
            <p:cNvSpPr/>
            <p:nvPr/>
          </p:nvSpPr>
          <p:spPr>
            <a:xfrm>
              <a:off x="723899" y="2400229"/>
              <a:ext cx="1743075" cy="14587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E9CE3C6-06BD-98FD-884F-00B9820CDD9B}"/>
                </a:ext>
              </a:extLst>
            </p:cNvPr>
            <p:cNvSpPr/>
            <p:nvPr/>
          </p:nvSpPr>
          <p:spPr>
            <a:xfrm>
              <a:off x="739671" y="2663794"/>
              <a:ext cx="1697499" cy="620920"/>
            </a:xfrm>
            <a:prstGeom prst="rect">
              <a:avLst/>
            </a:prstGeom>
          </p:spPr>
          <p:txBody>
            <a:bodyPr wrap="square" lIns="0" tIns="0" rIns="0" bIns="0" anchor="b" anchorCtr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400" dirty="0">
                  <a:latin typeface="Segoe UI Light" panose="020B0502040204020203" pitchFamily="34" charset="0"/>
                </a:rPr>
                <a:t>Growing multi-party competition fragmented vote shares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9FF3D17-38F3-1391-8699-DD1CD8CCF7FA}"/>
              </a:ext>
            </a:extLst>
          </p:cNvPr>
          <p:cNvGrpSpPr/>
          <p:nvPr/>
        </p:nvGrpSpPr>
        <p:grpSpPr>
          <a:xfrm>
            <a:off x="4314270" y="1201265"/>
            <a:ext cx="3466753" cy="1012306"/>
            <a:chOff x="723899" y="2400229"/>
            <a:chExt cx="1743075" cy="145876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9451B46-EF82-8EF0-20A2-63B74B6CB070}"/>
                </a:ext>
              </a:extLst>
            </p:cNvPr>
            <p:cNvSpPr/>
            <p:nvPr/>
          </p:nvSpPr>
          <p:spPr>
            <a:xfrm>
              <a:off x="723899" y="2400229"/>
              <a:ext cx="1743075" cy="14587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D2854A-9B54-0630-8A4A-97D8D799E3AE}"/>
                </a:ext>
              </a:extLst>
            </p:cNvPr>
            <p:cNvSpPr/>
            <p:nvPr/>
          </p:nvSpPr>
          <p:spPr>
            <a:xfrm>
              <a:off x="731786" y="2751062"/>
              <a:ext cx="1697499" cy="620920"/>
            </a:xfrm>
            <a:prstGeom prst="rect">
              <a:avLst/>
            </a:prstGeom>
          </p:spPr>
          <p:txBody>
            <a:bodyPr wrap="square" lIns="0" tIns="0" rIns="0" bIns="0" anchor="b" anchorCtr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400" dirty="0">
                  <a:latin typeface="Segoe UI Light" panose="020B0502040204020203" pitchFamily="34" charset="0"/>
                </a:rPr>
                <a:t>Fragmentation contributed to narrower victory margins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00FA3DC-A969-F3E0-F13F-FA8715A0D793}"/>
              </a:ext>
            </a:extLst>
          </p:cNvPr>
          <p:cNvGrpSpPr/>
          <p:nvPr/>
        </p:nvGrpSpPr>
        <p:grpSpPr>
          <a:xfrm>
            <a:off x="8023628" y="1201265"/>
            <a:ext cx="3466753" cy="1012306"/>
            <a:chOff x="723899" y="2400229"/>
            <a:chExt cx="1743075" cy="145876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95B2D56-59F9-DC92-0BD8-8B5B1E56B141}"/>
                </a:ext>
              </a:extLst>
            </p:cNvPr>
            <p:cNvSpPr/>
            <p:nvPr/>
          </p:nvSpPr>
          <p:spPr>
            <a:xfrm>
              <a:off x="723899" y="2400229"/>
              <a:ext cx="1743075" cy="14587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168122-B522-7239-72FC-20AD4DCBEEFA}"/>
                </a:ext>
              </a:extLst>
            </p:cNvPr>
            <p:cNvSpPr/>
            <p:nvPr/>
          </p:nvSpPr>
          <p:spPr>
            <a:xfrm>
              <a:off x="731786" y="2751062"/>
              <a:ext cx="1697499" cy="620920"/>
            </a:xfrm>
            <a:prstGeom prst="rect">
              <a:avLst/>
            </a:prstGeom>
          </p:spPr>
          <p:txBody>
            <a:bodyPr wrap="square" lIns="0" tIns="0" rIns="0" bIns="0" anchor="b" anchorCtr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400" dirty="0">
                  <a:latin typeface="Segoe UI Light" panose="020B0502040204020203" pitchFamily="34" charset="0"/>
                </a:rPr>
                <a:t>Tighter contests led to more constituency-level winner changes</a:t>
              </a:r>
            </a:p>
          </p:txBody>
        </p:sp>
      </p:grp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E25C6EE-7512-E800-4CEE-F2FA584AA134}"/>
              </a:ext>
            </a:extLst>
          </p:cNvPr>
          <p:cNvSpPr/>
          <p:nvPr/>
        </p:nvSpPr>
        <p:spPr>
          <a:xfrm rot="16200000">
            <a:off x="4083170" y="1477582"/>
            <a:ext cx="254000" cy="521306"/>
          </a:xfrm>
          <a:prstGeom prst="downArrow">
            <a:avLst/>
          </a:prstGeom>
          <a:solidFill>
            <a:srgbClr val="559E37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7B4D5E82-E646-AA00-7E39-7A6AC9CD7CC6}"/>
              </a:ext>
            </a:extLst>
          </p:cNvPr>
          <p:cNvSpPr/>
          <p:nvPr/>
        </p:nvSpPr>
        <p:spPr>
          <a:xfrm rot="16200000">
            <a:off x="7775326" y="1477427"/>
            <a:ext cx="254000" cy="521306"/>
          </a:xfrm>
          <a:prstGeom prst="downArrow">
            <a:avLst/>
          </a:prstGeom>
          <a:solidFill>
            <a:srgbClr val="559E37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729000" tIns="0" rIns="0" bIns="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200"/>
            </a:pPr>
            <a:endParaRPr lang="en-IN" sz="1200" b="1" dirty="0">
              <a:solidFill>
                <a:schemeClr val="dk1"/>
              </a:solidFill>
              <a:latin typeface="Plus Jakarta Sans"/>
              <a:cs typeface="Plus Jakarta San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917765A-E5B5-5676-996D-2AF7896E3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63" y="2396473"/>
            <a:ext cx="2116133" cy="120937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B3F54E4-2C5E-A355-1E46-4C3E69AF3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63" y="3788745"/>
            <a:ext cx="2116133" cy="122879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8D3EE17-20DC-99C9-1273-49F476DEC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62" y="5232338"/>
            <a:ext cx="2116133" cy="1220353"/>
          </a:xfrm>
          <a:prstGeom prst="rect">
            <a:avLst/>
          </a:prstGeom>
        </p:spPr>
      </p:pic>
      <p:pic>
        <p:nvPicPr>
          <p:cNvPr id="1477" name="Picture 1476">
            <a:extLst>
              <a:ext uri="{FF2B5EF4-FFF2-40B4-BE49-F238E27FC236}">
                <a16:creationId xmlns:a16="http://schemas.microsoft.com/office/drawing/2014/main" id="{68E46D59-106D-5C69-42AE-F03CF6D52E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15" y="2396473"/>
            <a:ext cx="2097715" cy="1209370"/>
          </a:xfrm>
          <a:prstGeom prst="rect">
            <a:avLst/>
          </a:prstGeom>
        </p:spPr>
      </p:pic>
      <p:pic>
        <p:nvPicPr>
          <p:cNvPr id="1479" name="Picture 1478">
            <a:extLst>
              <a:ext uri="{FF2B5EF4-FFF2-40B4-BE49-F238E27FC236}">
                <a16:creationId xmlns:a16="http://schemas.microsoft.com/office/drawing/2014/main" id="{88962766-F920-0BA5-DF56-DF4DF3914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14" y="3788745"/>
            <a:ext cx="2101007" cy="1228790"/>
          </a:xfrm>
          <a:prstGeom prst="rect">
            <a:avLst/>
          </a:prstGeom>
        </p:spPr>
      </p:pic>
      <p:pic>
        <p:nvPicPr>
          <p:cNvPr id="1481" name="Picture 1480">
            <a:extLst>
              <a:ext uri="{FF2B5EF4-FFF2-40B4-BE49-F238E27FC236}">
                <a16:creationId xmlns:a16="http://schemas.microsoft.com/office/drawing/2014/main" id="{1B422EC5-8C77-717F-1280-1F1003A87F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14" y="5232338"/>
            <a:ext cx="2116133" cy="1219988"/>
          </a:xfrm>
          <a:prstGeom prst="rect">
            <a:avLst/>
          </a:prstGeom>
        </p:spPr>
      </p:pic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92C77B48-4D39-4187-1B31-FD7D6A3A1744}"/>
              </a:ext>
            </a:extLst>
          </p:cNvPr>
          <p:cNvCxnSpPr>
            <a:cxnSpLocks/>
          </p:cNvCxnSpPr>
          <p:nvPr/>
        </p:nvCxnSpPr>
        <p:spPr>
          <a:xfrm>
            <a:off x="2982894" y="2486050"/>
            <a:ext cx="0" cy="1119793"/>
          </a:xfrm>
          <a:prstGeom prst="line">
            <a:avLst/>
          </a:prstGeom>
          <a:ln w="19050"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4" name="Straight Connector 1483">
            <a:extLst>
              <a:ext uri="{FF2B5EF4-FFF2-40B4-BE49-F238E27FC236}">
                <a16:creationId xmlns:a16="http://schemas.microsoft.com/office/drawing/2014/main" id="{CE10F39E-5EA9-9FAB-7F57-F155F913A24C}"/>
              </a:ext>
            </a:extLst>
          </p:cNvPr>
          <p:cNvCxnSpPr>
            <a:cxnSpLocks/>
          </p:cNvCxnSpPr>
          <p:nvPr/>
        </p:nvCxnSpPr>
        <p:spPr>
          <a:xfrm>
            <a:off x="2982894" y="3897742"/>
            <a:ext cx="0" cy="1119793"/>
          </a:xfrm>
          <a:prstGeom prst="line">
            <a:avLst/>
          </a:prstGeom>
          <a:ln w="19050"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5" name="Straight Connector 1484">
            <a:extLst>
              <a:ext uri="{FF2B5EF4-FFF2-40B4-BE49-F238E27FC236}">
                <a16:creationId xmlns:a16="http://schemas.microsoft.com/office/drawing/2014/main" id="{FB4F7CCC-2B45-7119-A5B5-5B7F5D3CCB8F}"/>
              </a:ext>
            </a:extLst>
          </p:cNvPr>
          <p:cNvCxnSpPr>
            <a:cxnSpLocks/>
          </p:cNvCxnSpPr>
          <p:nvPr/>
        </p:nvCxnSpPr>
        <p:spPr>
          <a:xfrm>
            <a:off x="2969546" y="5332533"/>
            <a:ext cx="0" cy="1119793"/>
          </a:xfrm>
          <a:prstGeom prst="line">
            <a:avLst/>
          </a:prstGeom>
          <a:ln w="19050"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E3F6A5B1-4B5D-DB25-2EA3-1C77F67F4E16}"/>
              </a:ext>
            </a:extLst>
          </p:cNvPr>
          <p:cNvCxnSpPr>
            <a:cxnSpLocks/>
          </p:cNvCxnSpPr>
          <p:nvPr/>
        </p:nvCxnSpPr>
        <p:spPr>
          <a:xfrm>
            <a:off x="8871860" y="2396473"/>
            <a:ext cx="0" cy="1119793"/>
          </a:xfrm>
          <a:prstGeom prst="line">
            <a:avLst/>
          </a:prstGeom>
          <a:ln w="19050"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7" name="Straight Connector 1486">
            <a:extLst>
              <a:ext uri="{FF2B5EF4-FFF2-40B4-BE49-F238E27FC236}">
                <a16:creationId xmlns:a16="http://schemas.microsoft.com/office/drawing/2014/main" id="{4EE3A19F-48F7-A2AE-3B67-A1CC3654D3AE}"/>
              </a:ext>
            </a:extLst>
          </p:cNvPr>
          <p:cNvCxnSpPr>
            <a:cxnSpLocks/>
          </p:cNvCxnSpPr>
          <p:nvPr/>
        </p:nvCxnSpPr>
        <p:spPr>
          <a:xfrm>
            <a:off x="8871860" y="3897742"/>
            <a:ext cx="0" cy="1119793"/>
          </a:xfrm>
          <a:prstGeom prst="line">
            <a:avLst/>
          </a:prstGeom>
          <a:ln w="19050"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8" name="Straight Connector 1487">
            <a:extLst>
              <a:ext uri="{FF2B5EF4-FFF2-40B4-BE49-F238E27FC236}">
                <a16:creationId xmlns:a16="http://schemas.microsoft.com/office/drawing/2014/main" id="{8BEBB9EA-497A-227A-321F-B426A94191E6}"/>
              </a:ext>
            </a:extLst>
          </p:cNvPr>
          <p:cNvCxnSpPr>
            <a:cxnSpLocks/>
          </p:cNvCxnSpPr>
          <p:nvPr/>
        </p:nvCxnSpPr>
        <p:spPr>
          <a:xfrm>
            <a:off x="8871860" y="5332533"/>
            <a:ext cx="0" cy="1119793"/>
          </a:xfrm>
          <a:prstGeom prst="line">
            <a:avLst/>
          </a:prstGeom>
          <a:ln w="19050"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9" name="TextBox 1488">
            <a:extLst>
              <a:ext uri="{FF2B5EF4-FFF2-40B4-BE49-F238E27FC236}">
                <a16:creationId xmlns:a16="http://schemas.microsoft.com/office/drawing/2014/main" id="{7BB7D836-077F-43B5-BC12-41D46C44379C}"/>
              </a:ext>
            </a:extLst>
          </p:cNvPr>
          <p:cNvSpPr txBox="1"/>
          <p:nvPr/>
        </p:nvSpPr>
        <p:spPr>
          <a:xfrm>
            <a:off x="3212735" y="2573348"/>
            <a:ext cx="2748118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Which parties are now leading in each of the six different parts of the state?</a:t>
            </a:r>
          </a:p>
        </p:txBody>
      </p:sp>
      <p:sp>
        <p:nvSpPr>
          <p:cNvPr id="1490" name="TextBox 1489">
            <a:extLst>
              <a:ext uri="{FF2B5EF4-FFF2-40B4-BE49-F238E27FC236}">
                <a16:creationId xmlns:a16="http://schemas.microsoft.com/office/drawing/2014/main" id="{E545579C-FD85-FBDE-C2CE-39D787C9FBC0}"/>
              </a:ext>
            </a:extLst>
          </p:cNvPr>
          <p:cNvSpPr txBox="1"/>
          <p:nvPr/>
        </p:nvSpPr>
        <p:spPr>
          <a:xfrm>
            <a:off x="3212735" y="4016814"/>
            <a:ext cx="2748118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Where did the big parties lose their "safe" areas? </a:t>
            </a:r>
          </a:p>
        </p:txBody>
      </p:sp>
      <p:sp>
        <p:nvSpPr>
          <p:cNvPr id="1491" name="TextBox 1490">
            <a:extLst>
              <a:ext uri="{FF2B5EF4-FFF2-40B4-BE49-F238E27FC236}">
                <a16:creationId xmlns:a16="http://schemas.microsoft.com/office/drawing/2014/main" id="{DE7F7822-AC0D-BF95-AF74-9DE50C7A82A5}"/>
              </a:ext>
            </a:extLst>
          </p:cNvPr>
          <p:cNvSpPr txBox="1"/>
          <p:nvPr/>
        </p:nvSpPr>
        <p:spPr>
          <a:xfrm>
            <a:off x="3212735" y="5396748"/>
            <a:ext cx="2748118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How many seats "flowed" away from the old alliances and into the new one?</a:t>
            </a:r>
          </a:p>
        </p:txBody>
      </p:sp>
      <p:sp>
        <p:nvSpPr>
          <p:cNvPr id="1492" name="TextBox 1491">
            <a:extLst>
              <a:ext uri="{FF2B5EF4-FFF2-40B4-BE49-F238E27FC236}">
                <a16:creationId xmlns:a16="http://schemas.microsoft.com/office/drawing/2014/main" id="{33F8878F-9C02-2636-A878-15E727521107}"/>
              </a:ext>
            </a:extLst>
          </p:cNvPr>
          <p:cNvSpPr txBox="1"/>
          <p:nvPr/>
        </p:nvSpPr>
        <p:spPr>
          <a:xfrm>
            <a:off x="9127580" y="2573348"/>
            <a:ext cx="2748118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Which specific towns and districts changed their minds and flipped to a different party?</a:t>
            </a:r>
          </a:p>
        </p:txBody>
      </p:sp>
      <p:sp>
        <p:nvSpPr>
          <p:cNvPr id="1493" name="TextBox 1492">
            <a:extLst>
              <a:ext uri="{FF2B5EF4-FFF2-40B4-BE49-F238E27FC236}">
                <a16:creationId xmlns:a16="http://schemas.microsoft.com/office/drawing/2014/main" id="{B0ABA8A5-5146-149A-6C42-C864D8B99995}"/>
              </a:ext>
            </a:extLst>
          </p:cNvPr>
          <p:cNvSpPr txBox="1"/>
          <p:nvPr/>
        </p:nvSpPr>
        <p:spPr>
          <a:xfrm>
            <a:off x="9127580" y="4016814"/>
            <a:ext cx="2748118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How close were the races?</a:t>
            </a:r>
          </a:p>
        </p:txBody>
      </p:sp>
      <p:sp>
        <p:nvSpPr>
          <p:cNvPr id="1494" name="TextBox 1493">
            <a:extLst>
              <a:ext uri="{FF2B5EF4-FFF2-40B4-BE49-F238E27FC236}">
                <a16:creationId xmlns:a16="http://schemas.microsoft.com/office/drawing/2014/main" id="{89BFE027-E9B8-08F9-069C-C452800A2796}"/>
              </a:ext>
            </a:extLst>
          </p:cNvPr>
          <p:cNvSpPr txBox="1"/>
          <p:nvPr/>
        </p:nvSpPr>
        <p:spPr>
          <a:xfrm>
            <a:off x="9127580" y="5396748"/>
            <a:ext cx="2748118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Did the winners get a clear majority, or was the vote split too many ways?</a:t>
            </a:r>
          </a:p>
        </p:txBody>
      </p:sp>
    </p:spTree>
    <p:extLst>
      <p:ext uri="{BB962C8B-B14F-4D97-AF65-F5344CB8AC3E}">
        <p14:creationId xmlns:p14="http://schemas.microsoft.com/office/powerpoint/2010/main" val="3838414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969D8-D2D8-9124-463F-F81E2059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Rectangle 1562">
            <a:extLst>
              <a:ext uri="{FF2B5EF4-FFF2-40B4-BE49-F238E27FC236}">
                <a16:creationId xmlns:a16="http://schemas.microsoft.com/office/drawing/2014/main" id="{AA57768F-C664-02D2-1F08-7EB9AB8289CD}"/>
              </a:ext>
            </a:extLst>
          </p:cNvPr>
          <p:cNvSpPr/>
          <p:nvPr/>
        </p:nvSpPr>
        <p:spPr>
          <a:xfrm>
            <a:off x="4065054" y="1860379"/>
            <a:ext cx="3445935" cy="2632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FB714-3E46-A06F-7793-599CCA61E57F}"/>
              </a:ext>
            </a:extLst>
          </p:cNvPr>
          <p:cNvSpPr txBox="1"/>
          <p:nvPr/>
        </p:nvSpPr>
        <p:spPr>
          <a:xfrm>
            <a:off x="389710" y="428993"/>
            <a:ext cx="11802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Rockwell Condensed" panose="02060603050405020104" pitchFamily="18" charset="0"/>
              </a:rPr>
              <a:t>Unassailable, fact-based journalism serves as the </a:t>
            </a:r>
            <a:r>
              <a:rPr lang="en-US" sz="3200" dirty="0" err="1">
                <a:latin typeface="Rockwell Condensed" panose="02060603050405020104" pitchFamily="18" charset="0"/>
              </a:rPr>
              <a:t>AtliQ</a:t>
            </a:r>
            <a:r>
              <a:rPr lang="en-US" sz="3200" dirty="0">
                <a:latin typeface="Rockwell Condensed" panose="02060603050405020104" pitchFamily="18" charset="0"/>
              </a:rPr>
              <a:t> broadcast standard </a:t>
            </a:r>
          </a:p>
        </p:txBody>
      </p:sp>
      <p:sp>
        <p:nvSpPr>
          <p:cNvPr id="1512" name="TextBox 1511">
            <a:extLst>
              <a:ext uri="{FF2B5EF4-FFF2-40B4-BE49-F238E27FC236}">
                <a16:creationId xmlns:a16="http://schemas.microsoft.com/office/drawing/2014/main" id="{D740B5A7-08E9-B708-BD16-F68E412BB5E0}"/>
              </a:ext>
            </a:extLst>
          </p:cNvPr>
          <p:cNvSpPr txBox="1"/>
          <p:nvPr/>
        </p:nvSpPr>
        <p:spPr>
          <a:xfrm>
            <a:off x="389710" y="56829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Old English Text MT" panose="03040902040508030806" pitchFamily="66" charset="0"/>
              </a:rPr>
              <a:t>Atliq</a:t>
            </a:r>
            <a:r>
              <a:rPr lang="en-US" dirty="0">
                <a:latin typeface="Old English Text MT" panose="03040902040508030806" pitchFamily="66" charset="0"/>
              </a:rPr>
              <a:t> Media</a:t>
            </a:r>
          </a:p>
        </p:txBody>
      </p:sp>
      <p:cxnSp>
        <p:nvCxnSpPr>
          <p:cNvPr id="1513" name="Straight Connector 1512">
            <a:extLst>
              <a:ext uri="{FF2B5EF4-FFF2-40B4-BE49-F238E27FC236}">
                <a16:creationId xmlns:a16="http://schemas.microsoft.com/office/drawing/2014/main" id="{9436CCBA-75BD-2456-6637-D9049F8583CB}"/>
              </a:ext>
            </a:extLst>
          </p:cNvPr>
          <p:cNvCxnSpPr>
            <a:cxnSpLocks/>
          </p:cNvCxnSpPr>
          <p:nvPr/>
        </p:nvCxnSpPr>
        <p:spPr>
          <a:xfrm>
            <a:off x="1688627" y="241495"/>
            <a:ext cx="10113658" cy="0"/>
          </a:xfrm>
          <a:prstGeom prst="line">
            <a:avLst/>
          </a:prstGeom>
          <a:ln>
            <a:solidFill>
              <a:srgbClr val="1914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3" name="Google Shape;1658;p16">
            <a:extLst>
              <a:ext uri="{FF2B5EF4-FFF2-40B4-BE49-F238E27FC236}">
                <a16:creationId xmlns:a16="http://schemas.microsoft.com/office/drawing/2014/main" id="{7CB1F3C6-4194-BDF3-6B38-F441BFEDB489}"/>
              </a:ext>
            </a:extLst>
          </p:cNvPr>
          <p:cNvGrpSpPr/>
          <p:nvPr/>
        </p:nvGrpSpPr>
        <p:grpSpPr>
          <a:xfrm>
            <a:off x="336896" y="5859233"/>
            <a:ext cx="11465394" cy="837822"/>
            <a:chOff x="2296574" y="1498733"/>
            <a:chExt cx="4572048" cy="1039387"/>
          </a:xfrm>
        </p:grpSpPr>
        <p:sp>
          <p:nvSpPr>
            <p:cNvPr id="1484" name="Google Shape;1659;p16">
              <a:extLst>
                <a:ext uri="{FF2B5EF4-FFF2-40B4-BE49-F238E27FC236}">
                  <a16:creationId xmlns:a16="http://schemas.microsoft.com/office/drawing/2014/main" id="{9B001AFF-8C12-9D07-F73F-508FE8DA1FFA}"/>
                </a:ext>
              </a:extLst>
            </p:cNvPr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1485" name="Google Shape;1660;p16">
              <a:extLst>
                <a:ext uri="{FF2B5EF4-FFF2-40B4-BE49-F238E27FC236}">
                  <a16:creationId xmlns:a16="http://schemas.microsoft.com/office/drawing/2014/main" id="{7F2D5296-A5AB-E313-05CB-C764209E9095}"/>
                </a:ext>
              </a:extLst>
            </p:cNvPr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486" name="Google Shape;1665;p16">
            <a:extLst>
              <a:ext uri="{FF2B5EF4-FFF2-40B4-BE49-F238E27FC236}">
                <a16:creationId xmlns:a16="http://schemas.microsoft.com/office/drawing/2014/main" id="{A594EB95-B085-3FB6-CDBF-A47312CC4151}"/>
              </a:ext>
            </a:extLst>
          </p:cNvPr>
          <p:cNvGrpSpPr/>
          <p:nvPr/>
        </p:nvGrpSpPr>
        <p:grpSpPr>
          <a:xfrm>
            <a:off x="11468618" y="5944477"/>
            <a:ext cx="667334" cy="667333"/>
            <a:chOff x="1691842" y="2809946"/>
            <a:chExt cx="607731" cy="607731"/>
          </a:xfrm>
        </p:grpSpPr>
        <p:sp>
          <p:nvSpPr>
            <p:cNvPr id="1487" name="Google Shape;1666;p16">
              <a:extLst>
                <a:ext uri="{FF2B5EF4-FFF2-40B4-BE49-F238E27FC236}">
                  <a16:creationId xmlns:a16="http://schemas.microsoft.com/office/drawing/2014/main" id="{6CA31711-479C-864C-1AAE-D0585C372185}"/>
                </a:ext>
              </a:extLst>
            </p:cNvPr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88" name="Google Shape;1667;p16">
              <a:extLst>
                <a:ext uri="{FF2B5EF4-FFF2-40B4-BE49-F238E27FC236}">
                  <a16:creationId xmlns:a16="http://schemas.microsoft.com/office/drawing/2014/main" id="{7B460E3E-D804-0FD1-29AC-7C6F680D1D35}"/>
                </a:ext>
              </a:extLst>
            </p:cNvPr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489" name="Google Shape;1668;p16">
            <a:extLst>
              <a:ext uri="{FF2B5EF4-FFF2-40B4-BE49-F238E27FC236}">
                <a16:creationId xmlns:a16="http://schemas.microsoft.com/office/drawing/2014/main" id="{5DA1E381-CFD1-7294-0786-279D73FA1717}"/>
              </a:ext>
            </a:extLst>
          </p:cNvPr>
          <p:cNvSpPr txBox="1"/>
          <p:nvPr/>
        </p:nvSpPr>
        <p:spPr>
          <a:xfrm>
            <a:off x="525799" y="6340463"/>
            <a:ext cx="1114040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500" b="0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Reinforce the network's commitment to factual reporting by explicitly citing ECI data to maintain 'fact-based' branding.</a:t>
            </a:r>
            <a:endParaRPr sz="1500" b="0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90" name="Google Shape;1669;p16">
            <a:extLst>
              <a:ext uri="{FF2B5EF4-FFF2-40B4-BE49-F238E27FC236}">
                <a16:creationId xmlns:a16="http://schemas.microsoft.com/office/drawing/2014/main" id="{E2929A75-A885-62AE-10C3-F1BA01FFAE0A}"/>
              </a:ext>
            </a:extLst>
          </p:cNvPr>
          <p:cNvSpPr txBox="1"/>
          <p:nvPr/>
        </p:nvSpPr>
        <p:spPr>
          <a:xfrm>
            <a:off x="488887" y="6017977"/>
            <a:ext cx="338304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Editorial Recommendation</a:t>
            </a:r>
            <a:endParaRPr sz="1400" b="1" i="0" u="none" strike="noStrike" cap="none" dirty="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98" name="Rectangle 1497">
            <a:extLst>
              <a:ext uri="{FF2B5EF4-FFF2-40B4-BE49-F238E27FC236}">
                <a16:creationId xmlns:a16="http://schemas.microsoft.com/office/drawing/2014/main" id="{49FC396F-FBA3-E16D-7000-9A1B6A2EEDCC}"/>
              </a:ext>
            </a:extLst>
          </p:cNvPr>
          <p:cNvSpPr/>
          <p:nvPr/>
        </p:nvSpPr>
        <p:spPr>
          <a:xfrm>
            <a:off x="619119" y="1860379"/>
            <a:ext cx="3427943" cy="2632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1500" name="Rectangle 1499">
            <a:extLst>
              <a:ext uri="{FF2B5EF4-FFF2-40B4-BE49-F238E27FC236}">
                <a16:creationId xmlns:a16="http://schemas.microsoft.com/office/drawing/2014/main" id="{C114B6C2-7BB7-EC5A-0C46-4202CDD4BAB0}"/>
              </a:ext>
            </a:extLst>
          </p:cNvPr>
          <p:cNvSpPr/>
          <p:nvPr/>
        </p:nvSpPr>
        <p:spPr>
          <a:xfrm>
            <a:off x="619120" y="1676866"/>
            <a:ext cx="3427943" cy="5486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r>
              <a:rPr lang="en-ID" sz="1600" b="1" dirty="0">
                <a:solidFill>
                  <a:schemeClr val="bg1"/>
                </a:solidFill>
                <a:latin typeface="Plus Jakarta Sans"/>
              </a:rPr>
              <a:t>What we Used (The Foundation)</a:t>
            </a:r>
            <a:endParaRPr lang="en-US" sz="1600" b="1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502" name="Rectangle 1501">
            <a:extLst>
              <a:ext uri="{FF2B5EF4-FFF2-40B4-BE49-F238E27FC236}">
                <a16:creationId xmlns:a16="http://schemas.microsoft.com/office/drawing/2014/main" id="{3CEFB774-7EC4-7A45-C3E2-BC7ABB741AEE}"/>
              </a:ext>
            </a:extLst>
          </p:cNvPr>
          <p:cNvSpPr/>
          <p:nvPr/>
        </p:nvSpPr>
        <p:spPr>
          <a:xfrm>
            <a:off x="1255322" y="2425706"/>
            <a:ext cx="2704811" cy="738664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r>
              <a:rPr lang="en-ID" sz="1600" dirty="0">
                <a:latin typeface="Segoe UI" panose="020B0502040204020203" pitchFamily="34" charset="0"/>
                <a:cs typeface="Segoe UI" panose="020B0502040204020203" pitchFamily="34" charset="0"/>
              </a:rPr>
              <a:t>Exclusively public Election Commission (ECI) of India data 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520" name="Straight Connector 1519">
            <a:extLst>
              <a:ext uri="{FF2B5EF4-FFF2-40B4-BE49-F238E27FC236}">
                <a16:creationId xmlns:a16="http://schemas.microsoft.com/office/drawing/2014/main" id="{E95C9686-A75F-E6AF-A1A2-2DB380F6C3C4}"/>
              </a:ext>
            </a:extLst>
          </p:cNvPr>
          <p:cNvCxnSpPr>
            <a:cxnSpLocks/>
          </p:cNvCxnSpPr>
          <p:nvPr/>
        </p:nvCxnSpPr>
        <p:spPr>
          <a:xfrm>
            <a:off x="1108709" y="3277373"/>
            <a:ext cx="2311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9" name="Google Shape;1481;p14">
            <a:extLst>
              <a:ext uri="{FF2B5EF4-FFF2-40B4-BE49-F238E27FC236}">
                <a16:creationId xmlns:a16="http://schemas.microsoft.com/office/drawing/2014/main" id="{AF3811D3-912B-0578-E21C-6F1532415D32}"/>
              </a:ext>
            </a:extLst>
          </p:cNvPr>
          <p:cNvSpPr/>
          <p:nvPr/>
        </p:nvSpPr>
        <p:spPr>
          <a:xfrm>
            <a:off x="619120" y="1167742"/>
            <a:ext cx="6873878" cy="439929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Credibility Shield</a:t>
            </a:r>
            <a:endParaRPr sz="20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Rectangle 1560">
            <a:extLst>
              <a:ext uri="{FF2B5EF4-FFF2-40B4-BE49-F238E27FC236}">
                <a16:creationId xmlns:a16="http://schemas.microsoft.com/office/drawing/2014/main" id="{FB5955C3-B3D8-0618-4452-CD3BF033C718}"/>
              </a:ext>
            </a:extLst>
          </p:cNvPr>
          <p:cNvSpPr/>
          <p:nvPr/>
        </p:nvSpPr>
        <p:spPr>
          <a:xfrm>
            <a:off x="4065055" y="1676866"/>
            <a:ext cx="3427943" cy="5486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r>
              <a:rPr lang="en-ID" sz="1600" b="1" dirty="0">
                <a:solidFill>
                  <a:schemeClr val="bg1"/>
                </a:solidFill>
                <a:latin typeface="Plus Jakarta Sans"/>
              </a:rPr>
              <a:t>What we Excluded (The Noise) </a:t>
            </a:r>
            <a:endParaRPr lang="en-US" sz="1600" b="1" dirty="0">
              <a:solidFill>
                <a:schemeClr val="bg1"/>
              </a:solidFill>
              <a:latin typeface="Plus Jakarta Sans"/>
            </a:endParaRPr>
          </a:p>
        </p:txBody>
      </p:sp>
      <p:grpSp>
        <p:nvGrpSpPr>
          <p:cNvPr id="1583" name="Group 1582">
            <a:extLst>
              <a:ext uri="{FF2B5EF4-FFF2-40B4-BE49-F238E27FC236}">
                <a16:creationId xmlns:a16="http://schemas.microsoft.com/office/drawing/2014/main" id="{316B2EA5-42BF-4C3F-9E28-B96481EFFB36}"/>
              </a:ext>
            </a:extLst>
          </p:cNvPr>
          <p:cNvGrpSpPr/>
          <p:nvPr/>
        </p:nvGrpSpPr>
        <p:grpSpPr>
          <a:xfrm>
            <a:off x="833474" y="2443435"/>
            <a:ext cx="275235" cy="283836"/>
            <a:chOff x="4921704" y="1949900"/>
            <a:chExt cx="302759" cy="312220"/>
          </a:xfrm>
        </p:grpSpPr>
        <p:sp>
          <p:nvSpPr>
            <p:cNvPr id="1584" name="Oval 1583">
              <a:extLst>
                <a:ext uri="{FF2B5EF4-FFF2-40B4-BE49-F238E27FC236}">
                  <a16:creationId xmlns:a16="http://schemas.microsoft.com/office/drawing/2014/main" id="{6BFF5C5E-A370-4B50-997B-E2795714BA72}"/>
                </a:ext>
              </a:extLst>
            </p:cNvPr>
            <p:cNvSpPr/>
            <p:nvPr/>
          </p:nvSpPr>
          <p:spPr>
            <a:xfrm>
              <a:off x="4921704" y="1949900"/>
              <a:ext cx="302759" cy="31222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5" name="Freeform 17">
              <a:extLst>
                <a:ext uri="{FF2B5EF4-FFF2-40B4-BE49-F238E27FC236}">
                  <a16:creationId xmlns:a16="http://schemas.microsoft.com/office/drawing/2014/main" id="{BCB3BE61-F4E1-46C7-B5ED-FD99DA225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508" y="2031258"/>
              <a:ext cx="173151" cy="149505"/>
            </a:xfrm>
            <a:custGeom>
              <a:avLst/>
              <a:gdLst>
                <a:gd name="T0" fmla="*/ 95 w 96"/>
                <a:gd name="T1" fmla="*/ 15 h 82"/>
                <a:gd name="T2" fmla="*/ 81 w 96"/>
                <a:gd name="T3" fmla="*/ 1 h 82"/>
                <a:gd name="T4" fmla="*/ 79 w 96"/>
                <a:gd name="T5" fmla="*/ 1 h 82"/>
                <a:gd name="T6" fmla="*/ 30 w 96"/>
                <a:gd name="T7" fmla="*/ 49 h 82"/>
                <a:gd name="T8" fmla="*/ 17 w 96"/>
                <a:gd name="T9" fmla="*/ 37 h 82"/>
                <a:gd name="T10" fmla="*/ 15 w 96"/>
                <a:gd name="T11" fmla="*/ 37 h 82"/>
                <a:gd name="T12" fmla="*/ 1 w 96"/>
                <a:gd name="T13" fmla="*/ 51 h 82"/>
                <a:gd name="T14" fmla="*/ 1 w 96"/>
                <a:gd name="T15" fmla="*/ 53 h 82"/>
                <a:gd name="T16" fmla="*/ 29 w 96"/>
                <a:gd name="T17" fmla="*/ 81 h 82"/>
                <a:gd name="T18" fmla="*/ 30 w 96"/>
                <a:gd name="T19" fmla="*/ 82 h 82"/>
                <a:gd name="T20" fmla="*/ 31 w 96"/>
                <a:gd name="T21" fmla="*/ 81 h 82"/>
                <a:gd name="T22" fmla="*/ 95 w 96"/>
                <a:gd name="T23" fmla="*/ 17 h 82"/>
                <a:gd name="T24" fmla="*/ 95 w 96"/>
                <a:gd name="T25" fmla="*/ 1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82">
                  <a:moveTo>
                    <a:pt x="95" y="15"/>
                  </a:moveTo>
                  <a:cubicBezTo>
                    <a:pt x="81" y="1"/>
                    <a:pt x="81" y="1"/>
                    <a:pt x="81" y="1"/>
                  </a:cubicBezTo>
                  <a:cubicBezTo>
                    <a:pt x="81" y="0"/>
                    <a:pt x="79" y="0"/>
                    <a:pt x="79" y="1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5" y="36"/>
                    <a:pt x="15" y="37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0" y="51"/>
                    <a:pt x="0" y="53"/>
                    <a:pt x="1" y="53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9" y="82"/>
                    <a:pt x="29" y="82"/>
                    <a:pt x="30" y="82"/>
                  </a:cubicBezTo>
                  <a:cubicBezTo>
                    <a:pt x="31" y="82"/>
                    <a:pt x="31" y="82"/>
                    <a:pt x="31" y="81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6" y="17"/>
                    <a:pt x="96" y="15"/>
                    <a:pt x="95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1589" name="Rectangle 1588">
            <a:extLst>
              <a:ext uri="{FF2B5EF4-FFF2-40B4-BE49-F238E27FC236}">
                <a16:creationId xmlns:a16="http://schemas.microsoft.com/office/drawing/2014/main" id="{41517DEF-FD5D-FBD4-3319-405B07F271B8}"/>
              </a:ext>
            </a:extLst>
          </p:cNvPr>
          <p:cNvSpPr/>
          <p:nvPr/>
        </p:nvSpPr>
        <p:spPr>
          <a:xfrm>
            <a:off x="1255322" y="3387008"/>
            <a:ext cx="2704811" cy="98488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r>
              <a:rPr lang="en-ID" sz="1600" dirty="0">
                <a:latin typeface="Segoe UI" panose="020B0502040204020203" pitchFamily="34" charset="0"/>
                <a:cs typeface="Segoe UI" panose="020B0502040204020203" pitchFamily="34" charset="0"/>
              </a:rPr>
              <a:t>Analysis anchored strictly on ECI Assembly Constituency (AC) numbers as the primary key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91" name="Group 1590">
            <a:extLst>
              <a:ext uri="{FF2B5EF4-FFF2-40B4-BE49-F238E27FC236}">
                <a16:creationId xmlns:a16="http://schemas.microsoft.com/office/drawing/2014/main" id="{43ED7686-6AB3-3B34-9B94-C6B63CC64572}"/>
              </a:ext>
            </a:extLst>
          </p:cNvPr>
          <p:cNvGrpSpPr/>
          <p:nvPr/>
        </p:nvGrpSpPr>
        <p:grpSpPr>
          <a:xfrm>
            <a:off x="833474" y="3527847"/>
            <a:ext cx="275235" cy="283836"/>
            <a:chOff x="4921704" y="1949900"/>
            <a:chExt cx="302759" cy="312220"/>
          </a:xfrm>
        </p:grpSpPr>
        <p:sp>
          <p:nvSpPr>
            <p:cNvPr id="1592" name="Oval 1591">
              <a:extLst>
                <a:ext uri="{FF2B5EF4-FFF2-40B4-BE49-F238E27FC236}">
                  <a16:creationId xmlns:a16="http://schemas.microsoft.com/office/drawing/2014/main" id="{45E38454-B31F-366F-BDE0-8DD19F997CAA}"/>
                </a:ext>
              </a:extLst>
            </p:cNvPr>
            <p:cNvSpPr/>
            <p:nvPr/>
          </p:nvSpPr>
          <p:spPr>
            <a:xfrm>
              <a:off x="4921704" y="1949900"/>
              <a:ext cx="302759" cy="31222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3" name="Freeform 17">
              <a:extLst>
                <a:ext uri="{FF2B5EF4-FFF2-40B4-BE49-F238E27FC236}">
                  <a16:creationId xmlns:a16="http://schemas.microsoft.com/office/drawing/2014/main" id="{2461C222-1D8A-8C07-8C17-A9047C1DE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508" y="2031258"/>
              <a:ext cx="173151" cy="149505"/>
            </a:xfrm>
            <a:custGeom>
              <a:avLst/>
              <a:gdLst>
                <a:gd name="T0" fmla="*/ 95 w 96"/>
                <a:gd name="T1" fmla="*/ 15 h 82"/>
                <a:gd name="T2" fmla="*/ 81 w 96"/>
                <a:gd name="T3" fmla="*/ 1 h 82"/>
                <a:gd name="T4" fmla="*/ 79 w 96"/>
                <a:gd name="T5" fmla="*/ 1 h 82"/>
                <a:gd name="T6" fmla="*/ 30 w 96"/>
                <a:gd name="T7" fmla="*/ 49 h 82"/>
                <a:gd name="T8" fmla="*/ 17 w 96"/>
                <a:gd name="T9" fmla="*/ 37 h 82"/>
                <a:gd name="T10" fmla="*/ 15 w 96"/>
                <a:gd name="T11" fmla="*/ 37 h 82"/>
                <a:gd name="T12" fmla="*/ 1 w 96"/>
                <a:gd name="T13" fmla="*/ 51 h 82"/>
                <a:gd name="T14" fmla="*/ 1 w 96"/>
                <a:gd name="T15" fmla="*/ 53 h 82"/>
                <a:gd name="T16" fmla="*/ 29 w 96"/>
                <a:gd name="T17" fmla="*/ 81 h 82"/>
                <a:gd name="T18" fmla="*/ 30 w 96"/>
                <a:gd name="T19" fmla="*/ 82 h 82"/>
                <a:gd name="T20" fmla="*/ 31 w 96"/>
                <a:gd name="T21" fmla="*/ 81 h 82"/>
                <a:gd name="T22" fmla="*/ 95 w 96"/>
                <a:gd name="T23" fmla="*/ 17 h 82"/>
                <a:gd name="T24" fmla="*/ 95 w 96"/>
                <a:gd name="T25" fmla="*/ 1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82">
                  <a:moveTo>
                    <a:pt x="95" y="15"/>
                  </a:moveTo>
                  <a:cubicBezTo>
                    <a:pt x="81" y="1"/>
                    <a:pt x="81" y="1"/>
                    <a:pt x="81" y="1"/>
                  </a:cubicBezTo>
                  <a:cubicBezTo>
                    <a:pt x="81" y="0"/>
                    <a:pt x="79" y="0"/>
                    <a:pt x="79" y="1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5" y="36"/>
                    <a:pt x="15" y="37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0" y="51"/>
                    <a:pt x="0" y="53"/>
                    <a:pt x="1" y="53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9" y="82"/>
                    <a:pt x="29" y="82"/>
                    <a:pt x="30" y="82"/>
                  </a:cubicBezTo>
                  <a:cubicBezTo>
                    <a:pt x="31" y="82"/>
                    <a:pt x="31" y="82"/>
                    <a:pt x="31" y="81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6" y="17"/>
                    <a:pt x="96" y="15"/>
                    <a:pt x="95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1594" name="Rectangle 1593">
            <a:extLst>
              <a:ext uri="{FF2B5EF4-FFF2-40B4-BE49-F238E27FC236}">
                <a16:creationId xmlns:a16="http://schemas.microsoft.com/office/drawing/2014/main" id="{AAF47C8C-193F-4F36-6B6B-DD33C35A3551}"/>
              </a:ext>
            </a:extLst>
          </p:cNvPr>
          <p:cNvSpPr/>
          <p:nvPr/>
        </p:nvSpPr>
        <p:spPr>
          <a:xfrm>
            <a:off x="4596336" y="2397677"/>
            <a:ext cx="2704811" cy="49244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r>
              <a:rPr lang="en-ID" sz="1600" dirty="0">
                <a:latin typeface="Segoe UI" panose="020B0502040204020203" pitchFamily="34" charset="0"/>
                <a:cs typeface="Segoe UI" panose="020B0502040204020203" pitchFamily="34" charset="0"/>
              </a:rPr>
              <a:t>Zero exit polls, surveys, or punditry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595" name="Straight Connector 1594">
            <a:extLst>
              <a:ext uri="{FF2B5EF4-FFF2-40B4-BE49-F238E27FC236}">
                <a16:creationId xmlns:a16="http://schemas.microsoft.com/office/drawing/2014/main" id="{F92CA8C9-F213-55CB-9CB2-354C5A2ADB0A}"/>
              </a:ext>
            </a:extLst>
          </p:cNvPr>
          <p:cNvCxnSpPr>
            <a:cxnSpLocks/>
          </p:cNvCxnSpPr>
          <p:nvPr/>
        </p:nvCxnSpPr>
        <p:spPr>
          <a:xfrm>
            <a:off x="4448641" y="3019513"/>
            <a:ext cx="2311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3" name="Oval 1602">
            <a:extLst>
              <a:ext uri="{FF2B5EF4-FFF2-40B4-BE49-F238E27FC236}">
                <a16:creationId xmlns:a16="http://schemas.microsoft.com/office/drawing/2014/main" id="{26F049C4-C53C-EE7E-5EB4-A235B10B1B58}"/>
              </a:ext>
            </a:extLst>
          </p:cNvPr>
          <p:cNvSpPr/>
          <p:nvPr/>
        </p:nvSpPr>
        <p:spPr>
          <a:xfrm>
            <a:off x="4173406" y="2405900"/>
            <a:ext cx="275235" cy="2838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B4BA6675-55C5-F942-C66F-FAF2A94C0106}"/>
              </a:ext>
            </a:extLst>
          </p:cNvPr>
          <p:cNvSpPr/>
          <p:nvPr/>
        </p:nvSpPr>
        <p:spPr>
          <a:xfrm>
            <a:off x="4596336" y="3186434"/>
            <a:ext cx="2704811" cy="49244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r>
              <a:rPr lang="en-ID" sz="1600" dirty="0">
                <a:latin typeface="Segoe UI" panose="020B0502040204020203" pitchFamily="34" charset="0"/>
                <a:cs typeface="Segoe UI" panose="020B0502040204020203" pitchFamily="34" charset="0"/>
              </a:rPr>
              <a:t>Zero predictive analysis or future forecasting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05" name="Straight Connector 1604">
            <a:extLst>
              <a:ext uri="{FF2B5EF4-FFF2-40B4-BE49-F238E27FC236}">
                <a16:creationId xmlns:a16="http://schemas.microsoft.com/office/drawing/2014/main" id="{202ECADE-BFC3-762C-1D94-0169A1DE4CB6}"/>
              </a:ext>
            </a:extLst>
          </p:cNvPr>
          <p:cNvCxnSpPr>
            <a:cxnSpLocks/>
          </p:cNvCxnSpPr>
          <p:nvPr/>
        </p:nvCxnSpPr>
        <p:spPr>
          <a:xfrm>
            <a:off x="4448641" y="3808270"/>
            <a:ext cx="23114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6" name="Oval 1605">
            <a:extLst>
              <a:ext uri="{FF2B5EF4-FFF2-40B4-BE49-F238E27FC236}">
                <a16:creationId xmlns:a16="http://schemas.microsoft.com/office/drawing/2014/main" id="{A6702CD7-24A0-5939-399C-E6745DA9BAFE}"/>
              </a:ext>
            </a:extLst>
          </p:cNvPr>
          <p:cNvSpPr/>
          <p:nvPr/>
        </p:nvSpPr>
        <p:spPr>
          <a:xfrm>
            <a:off x="4173406" y="3194657"/>
            <a:ext cx="275235" cy="2838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</a:p>
        </p:txBody>
      </p:sp>
      <p:sp>
        <p:nvSpPr>
          <p:cNvPr id="1607" name="Rectangle 1606">
            <a:extLst>
              <a:ext uri="{FF2B5EF4-FFF2-40B4-BE49-F238E27FC236}">
                <a16:creationId xmlns:a16="http://schemas.microsoft.com/office/drawing/2014/main" id="{1C6E97F7-8A30-3A24-A0ED-1E0CF0F759B2}"/>
              </a:ext>
            </a:extLst>
          </p:cNvPr>
          <p:cNvSpPr/>
          <p:nvPr/>
        </p:nvSpPr>
        <p:spPr>
          <a:xfrm>
            <a:off x="4596336" y="3974259"/>
            <a:ext cx="2704811" cy="49244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r>
              <a:rPr lang="en-ID" sz="1600" dirty="0">
                <a:latin typeface="Segoe UI" panose="020B0502040204020203" pitchFamily="34" charset="0"/>
                <a:cs typeface="Segoe UI" panose="020B0502040204020203" pitchFamily="34" charset="0"/>
              </a:rPr>
              <a:t>Zero casual interpretation regarding why voters shifted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09" name="Oval 1608">
            <a:extLst>
              <a:ext uri="{FF2B5EF4-FFF2-40B4-BE49-F238E27FC236}">
                <a16:creationId xmlns:a16="http://schemas.microsoft.com/office/drawing/2014/main" id="{337AC11C-6974-A2F2-E787-F1207C1A9EBA}"/>
              </a:ext>
            </a:extLst>
          </p:cNvPr>
          <p:cNvSpPr/>
          <p:nvPr/>
        </p:nvSpPr>
        <p:spPr>
          <a:xfrm>
            <a:off x="4173406" y="3982482"/>
            <a:ext cx="275235" cy="2838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</a:p>
        </p:txBody>
      </p:sp>
      <p:sp>
        <p:nvSpPr>
          <p:cNvPr id="1611" name="Rectangle 1610">
            <a:extLst>
              <a:ext uri="{FF2B5EF4-FFF2-40B4-BE49-F238E27FC236}">
                <a16:creationId xmlns:a16="http://schemas.microsoft.com/office/drawing/2014/main" id="{D63E5190-1528-683D-3378-4FFCE2A60164}"/>
              </a:ext>
            </a:extLst>
          </p:cNvPr>
          <p:cNvSpPr/>
          <p:nvPr/>
        </p:nvSpPr>
        <p:spPr>
          <a:xfrm>
            <a:off x="619119" y="4799466"/>
            <a:ext cx="11183166" cy="861774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r>
              <a:rPr lang="en-ID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Data Limitation </a:t>
            </a:r>
            <a:r>
              <a:rPr lang="en-ID" sz="1400" dirty="0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400" dirty="0">
                <a:latin typeface="Segoe UI" panose="020B0502040204020203" pitchFamily="34" charset="0"/>
                <a:cs typeface="Segoe UI" panose="020B0502040204020203" pitchFamily="34" charset="0"/>
              </a:rPr>
              <a:t>Constituency names are not strictly unique in the raw dataset.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dataset captures electoral outcomes but does not explain the underlying social, economic, or political reasons behind voter behavior</a:t>
            </a:r>
            <a:r>
              <a:rPr lang="en-ID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Alliance groupings are editorial classifications created for analysis</a:t>
            </a:r>
          </a:p>
        </p:txBody>
      </p:sp>
      <p:sp>
        <p:nvSpPr>
          <p:cNvPr id="1613" name="Google Shape;1481;p14">
            <a:extLst>
              <a:ext uri="{FF2B5EF4-FFF2-40B4-BE49-F238E27FC236}">
                <a16:creationId xmlns:a16="http://schemas.microsoft.com/office/drawing/2014/main" id="{0FB0BFD6-0CFE-1EEE-D98C-F3A00EC80DAD}"/>
              </a:ext>
            </a:extLst>
          </p:cNvPr>
          <p:cNvSpPr/>
          <p:nvPr/>
        </p:nvSpPr>
        <p:spPr>
          <a:xfrm>
            <a:off x="7670800" y="1167742"/>
            <a:ext cx="3995401" cy="439929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Headline </a:t>
            </a:r>
            <a:endParaRPr sz="20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4B461-86C1-A14E-2071-6C1455765085}"/>
              </a:ext>
            </a:extLst>
          </p:cNvPr>
          <p:cNvSpPr txBox="1"/>
          <p:nvPr/>
        </p:nvSpPr>
        <p:spPr>
          <a:xfrm>
            <a:off x="7658684" y="1676866"/>
            <a:ext cx="39954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1" u="none" strike="noStrike" dirty="0">
                <a:solidFill>
                  <a:srgbClr val="303030"/>
                </a:solidFill>
                <a:effectLst/>
                <a:latin typeface="Arial" panose="020B0604020202020204" pitchFamily="34" charset="0"/>
              </a:rPr>
              <a:t>The 2026 election marks the end of the decisive mandate in Tamil Nadu, shifting from a bipolar state to a fragmented tri-polar landscape where traditional strongholds have collapsed and seats are now won with record-low vote shares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18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lt1"/>
        </a:solidFill>
        <a:ln>
          <a:noFill/>
        </a:ln>
        <a:effectLst>
          <a:outerShdw blurRad="203200" dist="50800" dir="3060000" algn="t" rotWithShape="0">
            <a:srgbClr val="091450">
              <a:alpha val="20000"/>
            </a:srgbClr>
          </a:outerShdw>
        </a:effectLst>
      </a:spPr>
      <a:bodyPr spcFirstLastPara="1" wrap="square" lIns="729000" tIns="0" rIns="0" bIns="0" anchor="ctr" anchorCtr="0">
        <a:noAutofit/>
      </a:bodyPr>
      <a:lstStyle>
        <a:defPPr algn="l">
          <a:buClr>
            <a:srgbClr val="000000"/>
          </a:buClr>
          <a:buSzPts val="1200"/>
          <a:defRPr sz="1200" b="1" dirty="0">
            <a:solidFill>
              <a:schemeClr val="dk1"/>
            </a:solidFill>
            <a:latin typeface="Plus Jakarta Sans"/>
            <a:cs typeface="Plus Jakarta Sans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3238</TotalTime>
  <Words>2066</Words>
  <Application>Microsoft Office PowerPoint</Application>
  <PresentationFormat>Widescreen</PresentationFormat>
  <Paragraphs>225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Calibri</vt:lpstr>
      <vt:lpstr>Calibri Light</vt:lpstr>
      <vt:lpstr>Fira Sans Extra Condensed</vt:lpstr>
      <vt:lpstr>Franklin Gothic Book</vt:lpstr>
      <vt:lpstr>Google Sans Text</vt:lpstr>
      <vt:lpstr>Old English Text MT</vt:lpstr>
      <vt:lpstr>Open Sans</vt:lpstr>
      <vt:lpstr>Plus Jakarta Sans</vt:lpstr>
      <vt:lpstr>Rockwell Condensed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Narayanan</dc:creator>
  <cp:lastModifiedBy>Pooja Narayanan</cp:lastModifiedBy>
  <cp:revision>241</cp:revision>
  <dcterms:created xsi:type="dcterms:W3CDTF">2026-05-20T13:31:45Z</dcterms:created>
  <dcterms:modified xsi:type="dcterms:W3CDTF">2026-05-28T04:36:09Z</dcterms:modified>
</cp:coreProperties>
</file>